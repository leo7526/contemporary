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69" r:id="rId17"/>
  </p:sldIdLst>
  <p:sldSz cx="9144000" cy="6858000" type="screen4x3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146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1A57-5FBD-4256-9B04-BDBB72DAF0CF}" type="datetimeFigureOut">
              <a:rPr lang="zh-HK" altLang="en-US" smtClean="0"/>
              <a:t>16/11/2022</a:t>
            </a:fld>
            <a:endParaRPr lang="zh-HK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DFD1-3034-49D6-948D-B213B996288A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1A57-5FBD-4256-9B04-BDBB72DAF0CF}" type="datetimeFigureOut">
              <a:rPr lang="zh-HK" altLang="en-US" smtClean="0"/>
              <a:t>16/11/2022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DFD1-3034-49D6-948D-B213B996288A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1A57-5FBD-4256-9B04-BDBB72DAF0CF}" type="datetimeFigureOut">
              <a:rPr lang="zh-HK" altLang="en-US" smtClean="0"/>
              <a:t>16/11/2022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DFD1-3034-49D6-948D-B213B996288A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1A57-5FBD-4256-9B04-BDBB72DAF0CF}" type="datetimeFigureOut">
              <a:rPr lang="zh-HK" altLang="en-US" smtClean="0"/>
              <a:t>16/11/2022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DFD1-3034-49D6-948D-B213B996288A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1A57-5FBD-4256-9B04-BDBB72DAF0CF}" type="datetimeFigureOut">
              <a:rPr lang="zh-HK" altLang="en-US" smtClean="0"/>
              <a:t>16/11/2022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DFD1-3034-49D6-948D-B213B996288A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1A57-5FBD-4256-9B04-BDBB72DAF0CF}" type="datetimeFigureOut">
              <a:rPr lang="zh-HK" altLang="en-US" smtClean="0"/>
              <a:t>16/11/2022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DFD1-3034-49D6-948D-B213B996288A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1A57-5FBD-4256-9B04-BDBB72DAF0CF}" type="datetimeFigureOut">
              <a:rPr lang="zh-HK" altLang="en-US" smtClean="0"/>
              <a:t>16/11/2022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DFD1-3034-49D6-948D-B213B996288A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1A57-5FBD-4256-9B04-BDBB72DAF0CF}" type="datetimeFigureOut">
              <a:rPr lang="zh-HK" altLang="en-US" smtClean="0"/>
              <a:t>16/11/2022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DFD1-3034-49D6-948D-B213B996288A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1A57-5FBD-4256-9B04-BDBB72DAF0CF}" type="datetimeFigureOut">
              <a:rPr lang="zh-HK" altLang="en-US" smtClean="0"/>
              <a:t>16/11/2022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5FDDFD1-3034-49D6-948D-B213B996288A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1A57-5FBD-4256-9B04-BDBB72DAF0CF}" type="datetimeFigureOut">
              <a:rPr lang="zh-HK" altLang="en-US" smtClean="0"/>
              <a:t>16/11/2022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DFD1-3034-49D6-948D-B213B996288A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1A57-5FBD-4256-9B04-BDBB72DAF0CF}" type="datetimeFigureOut">
              <a:rPr lang="zh-HK" altLang="en-US" smtClean="0"/>
              <a:t>16/11/2022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DFD1-3034-49D6-948D-B213B996288A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5521A57-5FBD-4256-9B04-BDBB72DAF0CF}" type="datetimeFigureOut">
              <a:rPr lang="zh-HK" altLang="en-US" smtClean="0"/>
              <a:t>16/11/2022</a:t>
            </a:fld>
            <a:endParaRPr lang="zh-HK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5FDDFD1-3034-49D6-948D-B213B996288A}" type="slidenum">
              <a:rPr lang="zh-HK" altLang="en-US" smtClean="0"/>
              <a:t>‹#›</a:t>
            </a:fld>
            <a:endParaRPr lang="zh-HK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json.org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leary/JSON-java" TargetMode="External"/><Relationship Id="rId2" Type="http://schemas.openxmlformats.org/officeDocument/2006/relationships/hyperlink" Target="http://www.json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tutorialspoint.com/json/json_ajax_example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HK" dirty="0"/>
              <a:t>JavaScript Object Notation</a:t>
            </a:r>
            <a:br>
              <a:rPr lang="en-US" altLang="zh-HK" dirty="0"/>
            </a:br>
            <a:r>
              <a:rPr lang="en-US" altLang="zh-HK" dirty="0"/>
              <a:t>(JSON)</a:t>
            </a:r>
            <a:endParaRPr lang="zh-HK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458489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What is JSON?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Based on a non-strict subset of the JavaScript scripting language</a:t>
            </a:r>
          </a:p>
          <a:p>
            <a:r>
              <a:rPr lang="en-US" altLang="zh-HK" dirty="0"/>
              <a:t>A text-based open standard designed for human-readable data interchange</a:t>
            </a:r>
          </a:p>
          <a:p>
            <a:r>
              <a:rPr lang="en-US" altLang="zh-HK" dirty="0"/>
              <a:t>Often used for serializing and transmitting structured data</a:t>
            </a:r>
          </a:p>
          <a:p>
            <a:r>
              <a:rPr lang="en-US" altLang="zh-HK" dirty="0"/>
              <a:t>Used primarily to transmit data between a server and web application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413796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Why JSON?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Simpler than XML and uses less code size for representing structured data</a:t>
            </a:r>
          </a:p>
          <a:p>
            <a:r>
              <a:rPr lang="en-US" altLang="zh-HK" dirty="0"/>
              <a:t>Native support by all major web browsers</a:t>
            </a:r>
          </a:p>
          <a:p>
            <a:r>
              <a:rPr lang="en-US" altLang="zh-HK" dirty="0"/>
              <a:t>JSON libraries can be found for many programming languages</a:t>
            </a:r>
          </a:p>
          <a:p>
            <a:endParaRPr lang="en-US" altLang="zh-HK" dirty="0"/>
          </a:p>
          <a:p>
            <a:endParaRPr lang="en-US" altLang="zh-HK" dirty="0"/>
          </a:p>
        </p:txBody>
      </p:sp>
    </p:spTree>
    <p:extLst>
      <p:ext uri="{BB962C8B-B14F-4D97-AF65-F5344CB8AC3E}">
        <p14:creationId xmlns:p14="http://schemas.microsoft.com/office/powerpoint/2010/main" val="113249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Supported Types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Number – double precision floating-point format in </a:t>
            </a:r>
            <a:r>
              <a:rPr lang="en-US" altLang="zh-HK" dirty="0" err="1"/>
              <a:t>Javascript</a:t>
            </a:r>
            <a:endParaRPr lang="en-US" altLang="zh-HK" dirty="0"/>
          </a:p>
          <a:p>
            <a:r>
              <a:rPr lang="en-US" altLang="zh-HK" dirty="0"/>
              <a:t>String – double quoted Unicode</a:t>
            </a:r>
          </a:p>
          <a:p>
            <a:r>
              <a:rPr lang="en-US" altLang="zh-HK" dirty="0"/>
              <a:t>Boolean – true or false</a:t>
            </a:r>
          </a:p>
          <a:p>
            <a:r>
              <a:rPr lang="en-US" altLang="zh-HK" dirty="0"/>
              <a:t>Array – an ordered </a:t>
            </a:r>
            <a:r>
              <a:rPr lang="en-US" altLang="zh-HK" dirty="0" err="1"/>
              <a:t>seqeunce</a:t>
            </a:r>
            <a:r>
              <a:rPr lang="en-US" altLang="zh-HK" dirty="0"/>
              <a:t> of values</a:t>
            </a:r>
          </a:p>
          <a:p>
            <a:r>
              <a:rPr lang="en-US" altLang="zh-HK" dirty="0"/>
              <a:t>Object – an unordered collection of </a:t>
            </a:r>
            <a:r>
              <a:rPr lang="en-US" altLang="zh-HK" dirty="0" err="1"/>
              <a:t>key:value</a:t>
            </a:r>
            <a:r>
              <a:rPr lang="en-US" altLang="zh-HK" dirty="0"/>
              <a:t> pairs</a:t>
            </a:r>
          </a:p>
          <a:p>
            <a:r>
              <a:rPr lang="en-US" altLang="zh-HK" dirty="0"/>
              <a:t>Null (empty)</a:t>
            </a:r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584682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Syntax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HK" dirty="0"/>
              <a:t>object 		→ 	{ }</a:t>
            </a:r>
          </a:p>
          <a:p>
            <a:pPr marL="0" indent="0">
              <a:buNone/>
            </a:pPr>
            <a:r>
              <a:rPr lang="en-US" altLang="zh-HK" dirty="0"/>
              <a:t>			{ members }</a:t>
            </a:r>
          </a:p>
          <a:p>
            <a:pPr marL="0" indent="0">
              <a:buNone/>
            </a:pPr>
            <a:r>
              <a:rPr lang="en-US" altLang="zh-HK" dirty="0"/>
              <a:t>members 		→ 	pair</a:t>
            </a:r>
          </a:p>
          <a:p>
            <a:pPr marL="0" indent="0">
              <a:buNone/>
            </a:pPr>
            <a:r>
              <a:rPr lang="en-US" altLang="zh-HK" dirty="0"/>
              <a:t>			pair , members</a:t>
            </a:r>
          </a:p>
          <a:p>
            <a:pPr marL="0" indent="0">
              <a:buNone/>
            </a:pPr>
            <a:r>
              <a:rPr lang="en-US" altLang="zh-HK" dirty="0"/>
              <a:t>pair 		→	string : value</a:t>
            </a:r>
          </a:p>
          <a:p>
            <a:pPr marL="0" indent="0">
              <a:buNone/>
            </a:pPr>
            <a:r>
              <a:rPr lang="en-US" altLang="zh-HK" dirty="0"/>
              <a:t>array 		→	[ ]</a:t>
            </a:r>
          </a:p>
          <a:p>
            <a:pPr marL="0" indent="0">
              <a:buNone/>
            </a:pPr>
            <a:r>
              <a:rPr lang="en-US" altLang="zh-HK" dirty="0"/>
              <a:t>			[ elements ]</a:t>
            </a:r>
          </a:p>
          <a:p>
            <a:pPr marL="0" indent="0">
              <a:buNone/>
            </a:pPr>
            <a:r>
              <a:rPr lang="en-US" altLang="zh-HK" dirty="0"/>
              <a:t>elements 		→	value</a:t>
            </a:r>
          </a:p>
          <a:p>
            <a:pPr marL="0" indent="0">
              <a:buNone/>
            </a:pPr>
            <a:r>
              <a:rPr lang="en-US" altLang="zh-HK" dirty="0"/>
              <a:t>			value, elements</a:t>
            </a:r>
          </a:p>
          <a:p>
            <a:pPr marL="0" indent="0">
              <a:buNone/>
            </a:pPr>
            <a:r>
              <a:rPr lang="en-US" altLang="zh-HK" dirty="0"/>
              <a:t>value		→	string</a:t>
            </a:r>
          </a:p>
          <a:p>
            <a:pPr marL="0" indent="0">
              <a:buNone/>
            </a:pPr>
            <a:r>
              <a:rPr lang="en-US" altLang="zh-HK" dirty="0"/>
              <a:t>			number</a:t>
            </a:r>
          </a:p>
          <a:p>
            <a:pPr marL="0" indent="0">
              <a:buNone/>
            </a:pPr>
            <a:r>
              <a:rPr lang="en-US" altLang="zh-HK" dirty="0"/>
              <a:t>			object</a:t>
            </a:r>
          </a:p>
          <a:p>
            <a:pPr marL="0" indent="0">
              <a:buNone/>
            </a:pPr>
            <a:r>
              <a:rPr lang="en-US" altLang="zh-HK" dirty="0"/>
              <a:t>			array</a:t>
            </a:r>
          </a:p>
          <a:p>
            <a:pPr marL="0" indent="0">
              <a:buNone/>
            </a:pPr>
            <a:r>
              <a:rPr lang="en-US" altLang="zh-HK" dirty="0"/>
              <a:t>			true</a:t>
            </a:r>
          </a:p>
          <a:p>
            <a:pPr marL="0" indent="0">
              <a:buNone/>
            </a:pPr>
            <a:r>
              <a:rPr lang="en-US" altLang="zh-HK" dirty="0"/>
              <a:t>			false</a:t>
            </a:r>
          </a:p>
          <a:p>
            <a:pPr marL="0" indent="0">
              <a:buNone/>
            </a:pPr>
            <a:r>
              <a:rPr lang="en-US" altLang="zh-HK" dirty="0"/>
              <a:t>			null</a:t>
            </a:r>
          </a:p>
        </p:txBody>
      </p:sp>
    </p:spTree>
    <p:extLst>
      <p:ext uri="{BB962C8B-B14F-4D97-AF65-F5344CB8AC3E}">
        <p14:creationId xmlns:p14="http://schemas.microsoft.com/office/powerpoint/2010/main" val="1441102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Syntax (</a:t>
            </a:r>
            <a:r>
              <a:rPr lang="en-US" altLang="zh-HK" dirty="0" err="1"/>
              <a:t>cont</a:t>
            </a:r>
            <a:r>
              <a:rPr lang="en-US" altLang="zh-HK" dirty="0"/>
              <a:t>)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HK" sz="1800" dirty="0"/>
              <a:t>string		→ 	“”</a:t>
            </a:r>
            <a:endParaRPr lang="en-US" altLang="zh-HK" sz="18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altLang="zh-HK" sz="1800" dirty="0"/>
              <a:t>			“ chars “</a:t>
            </a:r>
          </a:p>
          <a:p>
            <a:pPr marL="0" indent="0">
              <a:buNone/>
            </a:pPr>
            <a:r>
              <a:rPr lang="en-US" altLang="zh-HK" sz="1800" dirty="0"/>
              <a:t>chars		→ 	char</a:t>
            </a:r>
          </a:p>
          <a:p>
            <a:pPr marL="0" indent="0">
              <a:buNone/>
            </a:pPr>
            <a:r>
              <a:rPr lang="en-US" altLang="zh-HK" sz="1800" dirty="0"/>
              <a:t>			char chars</a:t>
            </a:r>
          </a:p>
          <a:p>
            <a:pPr marL="0" indent="0">
              <a:buNone/>
            </a:pPr>
            <a:r>
              <a:rPr lang="en-US" altLang="zh-HK" sz="1800" dirty="0"/>
              <a:t>char		→	any Unicode character except “ or \ or control character</a:t>
            </a:r>
          </a:p>
          <a:p>
            <a:pPr marL="0" indent="0">
              <a:buNone/>
            </a:pPr>
            <a:r>
              <a:rPr lang="en-US" altLang="zh-HK" sz="1800" dirty="0"/>
              <a:t>			\”</a:t>
            </a:r>
          </a:p>
          <a:p>
            <a:pPr marL="0" indent="0">
              <a:buNone/>
            </a:pPr>
            <a:r>
              <a:rPr lang="en-US" altLang="zh-HK" sz="1800" dirty="0"/>
              <a:t>			\\</a:t>
            </a:r>
          </a:p>
          <a:p>
            <a:pPr marL="0" indent="0">
              <a:buNone/>
            </a:pPr>
            <a:r>
              <a:rPr lang="en-US" altLang="zh-HK" sz="1800" dirty="0"/>
              <a:t>			\/</a:t>
            </a:r>
          </a:p>
          <a:p>
            <a:pPr marL="0" indent="0">
              <a:buNone/>
            </a:pPr>
            <a:r>
              <a:rPr lang="en-US" altLang="zh-HK" sz="1800" dirty="0"/>
              <a:t>			\b</a:t>
            </a:r>
          </a:p>
          <a:p>
            <a:pPr marL="0" indent="0">
              <a:buNone/>
            </a:pPr>
            <a:r>
              <a:rPr lang="en-US" altLang="zh-HK" sz="1800" dirty="0"/>
              <a:t>			\f</a:t>
            </a:r>
          </a:p>
          <a:p>
            <a:pPr marL="0" indent="0">
              <a:buNone/>
            </a:pPr>
            <a:r>
              <a:rPr lang="en-US" altLang="zh-HK" sz="1800" dirty="0"/>
              <a:t>			\n</a:t>
            </a:r>
          </a:p>
          <a:p>
            <a:pPr marL="0" indent="0">
              <a:buNone/>
            </a:pPr>
            <a:r>
              <a:rPr lang="en-US" altLang="zh-HK" sz="1800" dirty="0"/>
              <a:t>			\r</a:t>
            </a:r>
          </a:p>
          <a:p>
            <a:pPr marL="0" indent="0">
              <a:buNone/>
            </a:pPr>
            <a:r>
              <a:rPr lang="en-US" altLang="zh-HK" sz="1800" dirty="0"/>
              <a:t>			\t</a:t>
            </a:r>
          </a:p>
          <a:p>
            <a:pPr marL="0" indent="0">
              <a:buNone/>
            </a:pPr>
            <a:r>
              <a:rPr lang="en-US" altLang="zh-HK" sz="1800" dirty="0"/>
              <a:t>			\u four-hex-digits</a:t>
            </a:r>
          </a:p>
        </p:txBody>
      </p:sp>
    </p:spTree>
    <p:extLst>
      <p:ext uri="{BB962C8B-B14F-4D97-AF65-F5344CB8AC3E}">
        <p14:creationId xmlns:p14="http://schemas.microsoft.com/office/powerpoint/2010/main" val="1441125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Syntax (</a:t>
            </a:r>
            <a:r>
              <a:rPr lang="en-US" altLang="zh-HK" dirty="0" err="1"/>
              <a:t>cont</a:t>
            </a:r>
            <a:r>
              <a:rPr lang="en-US" altLang="zh-HK" dirty="0"/>
              <a:t>)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HK" sz="1800" dirty="0"/>
              <a:t>number		→ 	</a:t>
            </a:r>
            <a:r>
              <a:rPr lang="en-US" altLang="zh-HK" sz="1800" dirty="0" err="1"/>
              <a:t>int</a:t>
            </a:r>
            <a:endParaRPr lang="en-US" altLang="zh-HK" sz="1800" dirty="0"/>
          </a:p>
          <a:p>
            <a:pPr marL="0" indent="0">
              <a:buNone/>
            </a:pPr>
            <a:r>
              <a:rPr lang="en-US" altLang="zh-HK" sz="1800" dirty="0"/>
              <a:t>			</a:t>
            </a:r>
            <a:r>
              <a:rPr lang="en-US" altLang="zh-HK" sz="1800" dirty="0" err="1"/>
              <a:t>int</a:t>
            </a:r>
            <a:r>
              <a:rPr lang="en-US" altLang="zh-HK" sz="1800" dirty="0"/>
              <a:t> </a:t>
            </a:r>
            <a:r>
              <a:rPr lang="en-US" altLang="zh-HK" sz="1800" dirty="0" err="1"/>
              <a:t>frac</a:t>
            </a:r>
            <a:endParaRPr lang="en-US" altLang="zh-HK" sz="1800" dirty="0"/>
          </a:p>
          <a:p>
            <a:pPr marL="0" indent="0">
              <a:buNone/>
            </a:pPr>
            <a:r>
              <a:rPr lang="en-US" altLang="zh-HK" sz="1800" dirty="0"/>
              <a:t>			</a:t>
            </a:r>
            <a:r>
              <a:rPr lang="en-US" altLang="zh-HK" sz="1800" dirty="0" err="1"/>
              <a:t>int</a:t>
            </a:r>
            <a:r>
              <a:rPr lang="en-US" altLang="zh-HK" sz="1800" dirty="0"/>
              <a:t> </a:t>
            </a:r>
            <a:r>
              <a:rPr lang="en-US" altLang="zh-HK" sz="1800" dirty="0" err="1"/>
              <a:t>exp</a:t>
            </a:r>
            <a:endParaRPr lang="en-US" altLang="zh-HK" sz="1800" dirty="0"/>
          </a:p>
          <a:p>
            <a:pPr marL="0" indent="0">
              <a:buNone/>
            </a:pPr>
            <a:r>
              <a:rPr lang="en-US" altLang="zh-HK" sz="1800" dirty="0"/>
              <a:t>			</a:t>
            </a:r>
            <a:r>
              <a:rPr lang="en-US" altLang="zh-HK" sz="1800" dirty="0" err="1"/>
              <a:t>int</a:t>
            </a:r>
            <a:r>
              <a:rPr lang="en-US" altLang="zh-HK" sz="1800" dirty="0"/>
              <a:t> </a:t>
            </a:r>
            <a:r>
              <a:rPr lang="en-US" altLang="zh-HK" sz="1800" dirty="0" err="1"/>
              <a:t>frac</a:t>
            </a:r>
            <a:r>
              <a:rPr lang="en-US" altLang="zh-HK" sz="1800" dirty="0"/>
              <a:t> </a:t>
            </a:r>
            <a:r>
              <a:rPr lang="en-US" altLang="zh-HK" sz="1800" dirty="0" err="1"/>
              <a:t>exp</a:t>
            </a:r>
            <a:endParaRPr lang="en-US" altLang="zh-HK" sz="1800" dirty="0"/>
          </a:p>
          <a:p>
            <a:pPr marL="0" indent="0">
              <a:buNone/>
            </a:pPr>
            <a:r>
              <a:rPr lang="en-US" altLang="zh-HK" sz="1800" dirty="0" err="1"/>
              <a:t>int</a:t>
            </a:r>
            <a:r>
              <a:rPr lang="en-US" altLang="zh-HK" sz="1800" dirty="0"/>
              <a:t>		 → 	digit</a:t>
            </a:r>
          </a:p>
          <a:p>
            <a:pPr marL="0" indent="0">
              <a:buNone/>
            </a:pPr>
            <a:r>
              <a:rPr lang="en-US" altLang="zh-HK" sz="1800" dirty="0"/>
              <a:t>		  	digit1-9 digits</a:t>
            </a:r>
          </a:p>
          <a:p>
            <a:pPr marL="0" indent="0">
              <a:buNone/>
            </a:pPr>
            <a:r>
              <a:rPr lang="en-US" altLang="zh-HK" sz="1800" dirty="0"/>
              <a:t>		  	- digit</a:t>
            </a:r>
          </a:p>
          <a:p>
            <a:pPr marL="0" indent="0">
              <a:buNone/>
            </a:pPr>
            <a:r>
              <a:rPr lang="en-US" altLang="zh-HK" sz="1800" dirty="0"/>
              <a:t>		  	- digit1-9 digits</a:t>
            </a:r>
          </a:p>
          <a:p>
            <a:pPr marL="0" indent="0">
              <a:buNone/>
            </a:pPr>
            <a:r>
              <a:rPr lang="en-US" altLang="zh-HK" sz="1800" dirty="0" err="1"/>
              <a:t>frac</a:t>
            </a:r>
            <a:r>
              <a:rPr lang="en-US" altLang="zh-HK" sz="1800" dirty="0"/>
              <a:t>		 → 	. digits</a:t>
            </a:r>
          </a:p>
          <a:p>
            <a:pPr marL="0" indent="0">
              <a:buNone/>
            </a:pPr>
            <a:r>
              <a:rPr lang="en-US" altLang="zh-HK" sz="1800" dirty="0" err="1"/>
              <a:t>exp</a:t>
            </a:r>
            <a:r>
              <a:rPr lang="en-US" altLang="zh-HK" sz="1800" dirty="0"/>
              <a:t>		 → 	</a:t>
            </a:r>
            <a:r>
              <a:rPr lang="en-US" altLang="zh-HK" sz="1800" i="1" dirty="0"/>
              <a:t>e</a:t>
            </a:r>
            <a:r>
              <a:rPr lang="en-US" altLang="zh-HK" sz="1800" dirty="0"/>
              <a:t> digits</a:t>
            </a:r>
          </a:p>
          <a:p>
            <a:pPr marL="0" indent="0">
              <a:buNone/>
            </a:pPr>
            <a:r>
              <a:rPr lang="en-US" altLang="zh-HK" sz="1800" dirty="0"/>
              <a:t>digits		 → 	digit</a:t>
            </a:r>
          </a:p>
          <a:p>
            <a:pPr marL="0" indent="0">
              <a:buNone/>
            </a:pPr>
            <a:r>
              <a:rPr lang="en-US" altLang="zh-HK" sz="1800" dirty="0"/>
              <a:t>			digit digits</a:t>
            </a:r>
          </a:p>
          <a:p>
            <a:pPr marL="0" indent="0">
              <a:buNone/>
            </a:pPr>
            <a:endParaRPr lang="en-US" altLang="zh-HK" sz="1600" dirty="0"/>
          </a:p>
        </p:txBody>
      </p:sp>
    </p:spTree>
    <p:extLst>
      <p:ext uri="{BB962C8B-B14F-4D97-AF65-F5344CB8AC3E}">
        <p14:creationId xmlns:p14="http://schemas.microsoft.com/office/powerpoint/2010/main" val="1028460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Syntax (</a:t>
            </a:r>
            <a:r>
              <a:rPr lang="en-US" altLang="zh-HK" dirty="0" err="1"/>
              <a:t>cont</a:t>
            </a:r>
            <a:r>
              <a:rPr lang="en-US" altLang="zh-HK" dirty="0"/>
              <a:t>)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HK" sz="1600" i="1" dirty="0"/>
              <a:t>e</a:t>
            </a:r>
            <a:r>
              <a:rPr lang="en-US" altLang="zh-HK" sz="1600" dirty="0"/>
              <a:t>		 → 	e</a:t>
            </a:r>
          </a:p>
          <a:p>
            <a:pPr marL="0" indent="0">
              <a:buNone/>
            </a:pPr>
            <a:r>
              <a:rPr lang="en-US" altLang="zh-HK" sz="1600" dirty="0"/>
              <a:t>			e+</a:t>
            </a:r>
          </a:p>
          <a:p>
            <a:pPr marL="0" indent="0">
              <a:buNone/>
            </a:pPr>
            <a:r>
              <a:rPr lang="en-US" altLang="zh-HK" sz="1600" dirty="0"/>
              <a:t>			e-</a:t>
            </a:r>
          </a:p>
          <a:p>
            <a:pPr marL="0" indent="0">
              <a:buNone/>
            </a:pPr>
            <a:r>
              <a:rPr lang="en-US" altLang="zh-HK" sz="1600" dirty="0"/>
              <a:t>			E</a:t>
            </a:r>
          </a:p>
          <a:p>
            <a:pPr marL="0" indent="0">
              <a:buNone/>
            </a:pPr>
            <a:r>
              <a:rPr lang="en-US" altLang="zh-HK" sz="1600" dirty="0"/>
              <a:t>			E+</a:t>
            </a:r>
          </a:p>
          <a:p>
            <a:pPr marL="0" indent="0">
              <a:buNone/>
            </a:pPr>
            <a:r>
              <a:rPr lang="en-US" altLang="zh-HK" sz="1600" dirty="0"/>
              <a:t>			E-</a:t>
            </a:r>
          </a:p>
          <a:p>
            <a:pPr marL="0" indent="0">
              <a:buNone/>
            </a:pPr>
            <a:endParaRPr lang="en-US" altLang="zh-HK" sz="1600" dirty="0"/>
          </a:p>
        </p:txBody>
      </p:sp>
    </p:spTree>
    <p:extLst>
      <p:ext uri="{BB962C8B-B14F-4D97-AF65-F5344CB8AC3E}">
        <p14:creationId xmlns:p14="http://schemas.microsoft.com/office/powerpoint/2010/main" val="3787961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/>
              <a:t>Converting Object to JSON String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HK" dirty="0"/>
              <a:t>Use </a:t>
            </a:r>
            <a:r>
              <a:rPr lang="en-US" altLang="zh-HK" dirty="0" err="1"/>
              <a:t>JSON.stringify</a:t>
            </a:r>
            <a:r>
              <a:rPr lang="en-US" altLang="zh-HK" dirty="0"/>
              <a:t>(Object) to convert an object to JSON string.  </a:t>
            </a:r>
          </a:p>
          <a:p>
            <a:r>
              <a:rPr lang="en-US" altLang="zh-HK" dirty="0"/>
              <a:t>JSON does not support cyclic data structures, so be careful to not give cyclical structures to the JSON </a:t>
            </a:r>
            <a:r>
              <a:rPr lang="en-US" altLang="zh-HK" dirty="0" err="1"/>
              <a:t>stringifier</a:t>
            </a:r>
            <a:r>
              <a:rPr lang="en-US" altLang="zh-HK" dirty="0"/>
              <a:t>.</a:t>
            </a:r>
          </a:p>
          <a:p>
            <a:r>
              <a:rPr lang="en-US" altLang="zh-HK" dirty="0"/>
              <a:t>For example,</a:t>
            </a:r>
          </a:p>
          <a:p>
            <a:pPr marL="0" indent="0">
              <a:buNone/>
            </a:pP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altLang="zh-HK" sz="1900">
                <a:latin typeface="Courier New" pitchFamily="49" charset="0"/>
                <a:cs typeface="Courier New" pitchFamily="49" charset="0"/>
              </a:rPr>
              <a:t>define Person class</a:t>
            </a:r>
          </a:p>
          <a:p>
            <a:pPr marL="0" indent="0">
              <a:buNone/>
            </a:pPr>
            <a:r>
              <a:rPr lang="en-US" altLang="zh-HK" sz="1900">
                <a:latin typeface="Courier New" pitchFamily="49" charset="0"/>
                <a:cs typeface="Courier New" pitchFamily="49" charset="0"/>
              </a:rPr>
              <a:t>class Person {</a:t>
            </a:r>
            <a:endParaRPr lang="en-US" altLang="zh-HK" sz="19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altLang="zh-HK" sz="1900">
                <a:latin typeface="Courier New" pitchFamily="49" charset="0"/>
                <a:cs typeface="Courier New" pitchFamily="49" charset="0"/>
              </a:rPr>
              <a:t>	constructor(</a:t>
            </a: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name, age) {</a:t>
            </a:r>
          </a:p>
          <a:p>
            <a:pPr marL="0" indent="0">
              <a:buNone/>
            </a:pPr>
            <a:r>
              <a:rPr lang="en-US" altLang="zh-HK" sz="1900">
                <a:latin typeface="Courier New" pitchFamily="49" charset="0"/>
                <a:cs typeface="Courier New" pitchFamily="49" charset="0"/>
              </a:rPr>
              <a:t>    	    this</a:t>
            </a: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.name = name;</a:t>
            </a:r>
          </a:p>
          <a:p>
            <a:pPr marL="0" indent="0">
              <a:buNone/>
            </a:pPr>
            <a:r>
              <a:rPr lang="en-US" altLang="zh-HK" sz="1900">
                <a:latin typeface="Courier New" pitchFamily="49" charset="0"/>
                <a:cs typeface="Courier New" pitchFamily="49" charset="0"/>
              </a:rPr>
              <a:t>	    </a:t>
            </a:r>
            <a:r>
              <a:rPr lang="en-US" altLang="zh-HK" sz="1900" dirty="0" err="1">
                <a:latin typeface="Courier New" pitchFamily="49" charset="0"/>
                <a:cs typeface="Courier New" pitchFamily="49" charset="0"/>
              </a:rPr>
              <a:t>this.age</a:t>
            </a: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 = age;</a:t>
            </a:r>
          </a:p>
          <a:p>
            <a:pPr marL="0" indent="0">
              <a:buNone/>
            </a:pPr>
            <a:r>
              <a:rPr lang="en-US" altLang="zh-HK" sz="190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r>
              <a:rPr lang="en-US" altLang="zh-HK" sz="1900">
                <a:latin typeface="Courier New" pitchFamily="49" charset="0"/>
                <a:cs typeface="Courier New" pitchFamily="49" charset="0"/>
              </a:rPr>
              <a:t>}</a:t>
            </a:r>
            <a:endParaRPr lang="en-US" altLang="zh-HK" sz="19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altLang="zh-HK" sz="19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 peter = new Person('peter', 50);</a:t>
            </a:r>
          </a:p>
          <a:p>
            <a:pPr marL="0" indent="0">
              <a:buNone/>
            </a:pPr>
            <a:r>
              <a:rPr lang="en-US" altLang="zh-HK" sz="19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HK" sz="1900" dirty="0" err="1">
                <a:latin typeface="Courier New" pitchFamily="49" charset="0"/>
                <a:cs typeface="Courier New" pitchFamily="49" charset="0"/>
              </a:rPr>
              <a:t>peterJSONString</a:t>
            </a: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zh-HK" sz="1900" dirty="0" err="1">
                <a:latin typeface="Courier New" pitchFamily="49" charset="0"/>
                <a:cs typeface="Courier New" pitchFamily="49" charset="0"/>
              </a:rPr>
              <a:t>JSON.stringify</a:t>
            </a: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(peter);</a:t>
            </a:r>
          </a:p>
          <a:p>
            <a:pPr marL="0" indent="0">
              <a:buNone/>
            </a:pP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console.log(</a:t>
            </a:r>
            <a:r>
              <a:rPr lang="en-US" altLang="zh-HK" sz="1900" dirty="0" err="1">
                <a:latin typeface="Courier New" pitchFamily="49" charset="0"/>
                <a:cs typeface="Courier New" pitchFamily="49" charset="0"/>
              </a:rPr>
              <a:t>peterJSONString</a:t>
            </a:r>
            <a:r>
              <a:rPr lang="en-US" altLang="zh-HK" sz="1900" dirty="0">
                <a:latin typeface="Courier New" pitchFamily="49" charset="0"/>
                <a:cs typeface="Courier New" pitchFamily="49" charset="0"/>
              </a:rPr>
              <a:t>);  // {"name":"peter","age":50} </a:t>
            </a:r>
            <a:endParaRPr lang="zh-HK" altLang="en-US" sz="19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164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/>
              <a:t>Converting JSON String to Object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Use </a:t>
            </a:r>
            <a:r>
              <a:rPr lang="en-US" altLang="zh-HK" dirty="0" err="1"/>
              <a:t>JSON.parse</a:t>
            </a:r>
            <a:r>
              <a:rPr lang="en-US" altLang="zh-HK" dirty="0"/>
              <a:t>(String) to convert a String to an object</a:t>
            </a:r>
          </a:p>
          <a:p>
            <a:pPr marL="365760" lvl="1" indent="0">
              <a:buNone/>
            </a:pP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peterJSONString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 = "{\"name\":\"peter\",\"age\":50}";</a:t>
            </a:r>
          </a:p>
          <a:p>
            <a:pPr marL="365760" lvl="1" indent="0">
              <a:buNone/>
            </a:pP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 peter = </a:t>
            </a: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JSON.parse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peterJSONString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65760" lvl="1" indent="0">
              <a:buNone/>
            </a:pP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console.log(peter.name, </a:t>
            </a: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peter.age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);  // peter 50</a:t>
            </a:r>
          </a:p>
          <a:p>
            <a:pPr marL="285750" indent="-285750"/>
            <a:r>
              <a:rPr lang="en-US" altLang="zh-HK" dirty="0"/>
              <a:t>Note the object returned by </a:t>
            </a:r>
            <a:r>
              <a:rPr lang="en-US" altLang="zh-HK" dirty="0" err="1"/>
              <a:t>JSON.parse</a:t>
            </a:r>
            <a:r>
              <a:rPr lang="en-US" altLang="zh-HK" dirty="0"/>
              <a:t>(String) does not have methods of the original class after converting from object to JSON String and from JSON string to object.</a:t>
            </a:r>
          </a:p>
        </p:txBody>
      </p:sp>
    </p:spTree>
    <p:extLst>
      <p:ext uri="{BB962C8B-B14F-4D97-AF65-F5344CB8AC3E}">
        <p14:creationId xmlns:p14="http://schemas.microsoft.com/office/powerpoint/2010/main" val="6458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/>
              <a:t>Converting JSON String to Object (</a:t>
            </a:r>
            <a:r>
              <a:rPr lang="en-US" altLang="zh-HK" dirty="0" err="1"/>
              <a:t>cont</a:t>
            </a:r>
            <a:r>
              <a:rPr lang="en-US" altLang="zh-HK" dirty="0"/>
              <a:t>)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935480"/>
            <a:ext cx="8363272" cy="46618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class Person {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	constructor(name, age) {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		this.name = name;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		this.age = age;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	getName() { return this.name; }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	getAge() { return this.age; }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var peter = new Person('peter', 50);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var peterJSONString = JSON.stringify(peter);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var peter2 = JSON.parse(peterJSONString);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console.log(peter2.getName, peter2.getAge); // undefined undefined</a:t>
            </a:r>
            <a:endParaRPr lang="en-US" altLang="zh-HK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altLang="zh-HK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altLang="zh-HK" sz="1400" dirty="0"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7004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Using JSON in Ajax Request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HK" dirty="0"/>
              <a:t>JSON is usually used in passing structured data between Web Applications and web servers.</a:t>
            </a:r>
          </a:p>
          <a:p>
            <a:r>
              <a:rPr lang="en-US" altLang="zh-HK" dirty="0"/>
              <a:t>To get structure data in JSON from the web server in Ajax request, the following steps can be followed:</a:t>
            </a:r>
          </a:p>
          <a:p>
            <a:pPr lvl="1"/>
            <a:r>
              <a:rPr lang="en-US" altLang="zh-HK" dirty="0"/>
              <a:t>Create an </a:t>
            </a:r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XMLHttpRequest</a:t>
            </a:r>
            <a:r>
              <a:rPr lang="en-US" altLang="zh-HK" dirty="0"/>
              <a:t> object</a:t>
            </a:r>
          </a:p>
          <a:p>
            <a:pPr lvl="1"/>
            <a:r>
              <a:rPr lang="en-US" altLang="zh-HK" dirty="0"/>
              <a:t>Define the call back function </a:t>
            </a:r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onreadystatechange</a:t>
            </a:r>
            <a:r>
              <a:rPr lang="en-US" altLang="zh-HK" dirty="0"/>
              <a:t> for the </a:t>
            </a:r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XMLHttpRequest</a:t>
            </a:r>
            <a:r>
              <a:rPr lang="en-US" altLang="zh-HK" dirty="0"/>
              <a:t> object.</a:t>
            </a:r>
          </a:p>
          <a:p>
            <a:pPr lvl="1"/>
            <a:r>
              <a:rPr lang="en-US" altLang="zh-HK" dirty="0"/>
              <a:t>In the call back function, parse the response from the web server using </a:t>
            </a:r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JSON.parse</a:t>
            </a:r>
            <a:r>
              <a:rPr lang="en-US" altLang="zh-HK" dirty="0">
                <a:latin typeface="Courier New" pitchFamily="49" charset="0"/>
                <a:cs typeface="Courier New" pitchFamily="49" charset="0"/>
              </a:rPr>
              <a:t>(String)</a:t>
            </a:r>
            <a:r>
              <a:rPr lang="en-US" altLang="zh-HK" dirty="0"/>
              <a:t> to get the structured data</a:t>
            </a:r>
          </a:p>
          <a:p>
            <a:pPr lvl="1"/>
            <a:r>
              <a:rPr lang="en-US" altLang="zh-HK" dirty="0"/>
              <a:t>Display or use the 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1010193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/>
              <a:t>Using JSON in Ajax Request (</a:t>
            </a:r>
            <a:r>
              <a:rPr lang="en-US" altLang="zh-HK" dirty="0" err="1"/>
              <a:t>cont</a:t>
            </a:r>
            <a:r>
              <a:rPr lang="en-US" altLang="zh-HK" dirty="0"/>
              <a:t>)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url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 = “http://www.domain.com/....”;</a:t>
            </a:r>
          </a:p>
          <a:p>
            <a:pPr marL="0" indent="0">
              <a:buNone/>
            </a:pP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http_request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XMLHttpRequest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...</a:t>
            </a:r>
          </a:p>
          <a:p>
            <a:pPr marL="0" indent="0">
              <a:buNone/>
            </a:pP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http_request.onreadystatechange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  = function(){</a:t>
            </a:r>
          </a:p>
          <a:p>
            <a:pPr marL="0" indent="0">
              <a:buNone/>
            </a:pP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      if (</a:t>
            </a: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http_request.readyState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 == 4  )</a:t>
            </a:r>
          </a:p>
          <a:p>
            <a:pPr marL="0" indent="0">
              <a:buNone/>
            </a:pP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      {</a:t>
            </a:r>
          </a:p>
          <a:p>
            <a:pPr marL="0" indent="0">
              <a:buNone/>
            </a:pP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        // parse JSON data to data structure</a:t>
            </a:r>
          </a:p>
          <a:p>
            <a:pPr marL="0" indent="0">
              <a:buNone/>
            </a:pP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 data = </a:t>
            </a: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JSON.parse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http_request.responseText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endParaRPr lang="en-US" altLang="zh-HK" sz="18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        // data variable now contains the data structure</a:t>
            </a:r>
          </a:p>
          <a:p>
            <a:pPr marL="0" indent="0">
              <a:buNone/>
            </a:pP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 marL="0" indent="0">
              <a:buNone/>
            </a:pP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//  initialized the </a:t>
            </a: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ajax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 request</a:t>
            </a:r>
          </a:p>
          <a:p>
            <a:pPr marL="0" indent="0">
              <a:buNone/>
            </a:pP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http_request.open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("GET", </a:t>
            </a: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url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, true);</a:t>
            </a:r>
          </a:p>
          <a:p>
            <a:pPr marL="0" indent="0">
              <a:buNone/>
            </a:pP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// send the request to the web server</a:t>
            </a:r>
          </a:p>
          <a:p>
            <a:pPr marL="0" indent="0">
              <a:buNone/>
            </a:pP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http_request.send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();</a:t>
            </a:r>
            <a:endParaRPr lang="zh-HK" altLang="en-US" sz="18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307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/>
              <a:t>The JSON Java library in official web site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HK" sz="2900" dirty="0"/>
              <a:t>Available at </a:t>
            </a:r>
            <a:r>
              <a:rPr lang="en-US" altLang="zh-HK" sz="2900" dirty="0">
                <a:hlinkClick r:id="rId2"/>
              </a:rPr>
              <a:t>http://www.json.</a:t>
            </a:r>
            <a:r>
              <a:rPr lang="en-US" altLang="zh-HK" sz="2900">
                <a:hlinkClick r:id="rId2"/>
              </a:rPr>
              <a:t>org/</a:t>
            </a:r>
            <a:endParaRPr lang="zh-HK" altLang="en-US" sz="2900" dirty="0"/>
          </a:p>
          <a:p>
            <a:r>
              <a:rPr lang="en-US" altLang="zh-HK" sz="2900" dirty="0"/>
              <a:t>The library defines several classes for handling conversion between JSON string and structured data represented by </a:t>
            </a:r>
            <a:r>
              <a:rPr lang="en-US" altLang="zh-HK" sz="2300" dirty="0" err="1">
                <a:latin typeface="Courier New" pitchFamily="49" charset="0"/>
                <a:cs typeface="Courier New" pitchFamily="49" charset="0"/>
              </a:rPr>
              <a:t>JSONObject</a:t>
            </a:r>
            <a:r>
              <a:rPr lang="en-US" altLang="zh-HK" sz="2900" dirty="0"/>
              <a:t>.  For example, to convert a JSON String to a </a:t>
            </a:r>
            <a:r>
              <a:rPr lang="en-US" altLang="zh-HK" sz="2900" dirty="0" err="1">
                <a:latin typeface="Courier New" pitchFamily="49" charset="0"/>
                <a:cs typeface="Courier New" pitchFamily="49" charset="0"/>
              </a:rPr>
              <a:t>JSONObject</a:t>
            </a:r>
            <a:r>
              <a:rPr lang="en-US" altLang="zh-HK" sz="2900" dirty="0"/>
              <a:t>:</a:t>
            </a:r>
          </a:p>
          <a:p>
            <a:pPr marL="365760" lvl="1" indent="0">
              <a:buNone/>
            </a:pPr>
            <a:r>
              <a:rPr lang="en-US" altLang="zh-HK" sz="2300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altLang="zh-HK" sz="2300" dirty="0" err="1">
                <a:latin typeface="Courier New" pitchFamily="49" charset="0"/>
                <a:cs typeface="Courier New" pitchFamily="49" charset="0"/>
              </a:rPr>
              <a:t>jsonstring</a:t>
            </a:r>
            <a:r>
              <a:rPr lang="en-US" altLang="zh-HK" sz="2300" dirty="0">
                <a:latin typeface="Courier New" pitchFamily="49" charset="0"/>
                <a:cs typeface="Courier New" pitchFamily="49" charset="0"/>
              </a:rPr>
              <a:t> = "{\"name\":\"peter\",\"age\":50}";</a:t>
            </a:r>
          </a:p>
          <a:p>
            <a:pPr marL="365760" lvl="1" indent="0">
              <a:buNone/>
            </a:pPr>
            <a:r>
              <a:rPr lang="en-US" altLang="zh-HK" sz="2300" dirty="0">
                <a:latin typeface="Courier New" pitchFamily="49" charset="0"/>
                <a:cs typeface="Courier New" pitchFamily="49" charset="0"/>
              </a:rPr>
              <a:t>try {</a:t>
            </a:r>
          </a:p>
          <a:p>
            <a:pPr marL="365760" lvl="1" indent="0">
              <a:buNone/>
            </a:pPr>
            <a:r>
              <a:rPr lang="en-US" altLang="zh-HK" sz="2300" dirty="0">
                <a:latin typeface="Courier New" pitchFamily="49" charset="0"/>
                <a:cs typeface="Courier New" pitchFamily="49" charset="0"/>
              </a:rPr>
              <a:t>	// create a </a:t>
            </a:r>
            <a:r>
              <a:rPr lang="en-US" altLang="zh-HK" sz="2300" dirty="0" err="1">
                <a:latin typeface="Courier New" pitchFamily="49" charset="0"/>
                <a:cs typeface="Courier New" pitchFamily="49" charset="0"/>
              </a:rPr>
              <a:t>JSONObject</a:t>
            </a:r>
            <a:r>
              <a:rPr lang="en-US" altLang="zh-HK" sz="2300" dirty="0">
                <a:latin typeface="Courier New" pitchFamily="49" charset="0"/>
                <a:cs typeface="Courier New" pitchFamily="49" charset="0"/>
              </a:rPr>
              <a:t> from a JSON string</a:t>
            </a:r>
          </a:p>
          <a:p>
            <a:pPr marL="365760" lvl="1" indent="0">
              <a:buNone/>
            </a:pPr>
            <a:r>
              <a:rPr lang="en-US" altLang="zh-HK" sz="23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HK" sz="2300" dirty="0" err="1">
                <a:latin typeface="Courier New" pitchFamily="49" charset="0"/>
                <a:cs typeface="Courier New" pitchFamily="49" charset="0"/>
              </a:rPr>
              <a:t>JSONObject</a:t>
            </a:r>
            <a:r>
              <a:rPr lang="en-US" altLang="zh-HK" sz="2300" dirty="0">
                <a:latin typeface="Courier New" pitchFamily="49" charset="0"/>
                <a:cs typeface="Courier New" pitchFamily="49" charset="0"/>
              </a:rPr>
              <a:t> peter = new </a:t>
            </a:r>
            <a:r>
              <a:rPr lang="en-US" altLang="zh-HK" sz="2300" dirty="0" err="1">
                <a:latin typeface="Courier New" pitchFamily="49" charset="0"/>
                <a:cs typeface="Courier New" pitchFamily="49" charset="0"/>
              </a:rPr>
              <a:t>JSONObject</a:t>
            </a:r>
            <a:r>
              <a:rPr lang="en-US" altLang="zh-HK" sz="23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HK" sz="2300" dirty="0" err="1">
                <a:latin typeface="Courier New" pitchFamily="49" charset="0"/>
                <a:cs typeface="Courier New" pitchFamily="49" charset="0"/>
              </a:rPr>
              <a:t>jsonstring</a:t>
            </a:r>
            <a:r>
              <a:rPr lang="en-US" altLang="zh-HK" sz="23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65760" lvl="1" indent="0">
              <a:buNone/>
            </a:pPr>
            <a:r>
              <a:rPr lang="en-US" altLang="zh-HK" sz="2300" dirty="0">
                <a:latin typeface="Courier New" pitchFamily="49" charset="0"/>
                <a:cs typeface="Courier New" pitchFamily="49" charset="0"/>
              </a:rPr>
              <a:t>	// get the value of the age attribute</a:t>
            </a:r>
          </a:p>
          <a:p>
            <a:pPr marL="365760" lvl="1" indent="0">
              <a:buNone/>
            </a:pPr>
            <a:r>
              <a:rPr lang="en-US" altLang="zh-HK" sz="23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HK" sz="23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HK" sz="2300" dirty="0">
                <a:latin typeface="Courier New" pitchFamily="49" charset="0"/>
                <a:cs typeface="Courier New" pitchFamily="49" charset="0"/>
              </a:rPr>
              <a:t> age = </a:t>
            </a:r>
            <a:r>
              <a:rPr lang="en-US" altLang="zh-HK" sz="2300" dirty="0" err="1">
                <a:latin typeface="Courier New" pitchFamily="49" charset="0"/>
                <a:cs typeface="Courier New" pitchFamily="49" charset="0"/>
              </a:rPr>
              <a:t>peter.getInt</a:t>
            </a:r>
            <a:r>
              <a:rPr lang="en-US" altLang="zh-HK" sz="2300" dirty="0">
                <a:latin typeface="Courier New" pitchFamily="49" charset="0"/>
                <a:cs typeface="Courier New" pitchFamily="49" charset="0"/>
              </a:rPr>
              <a:t>("age");</a:t>
            </a:r>
          </a:p>
          <a:p>
            <a:pPr marL="365760" lvl="1" indent="0">
              <a:buNone/>
            </a:pPr>
            <a:r>
              <a:rPr lang="en-US" altLang="zh-HK" sz="2300" dirty="0">
                <a:latin typeface="Courier New" pitchFamily="49" charset="0"/>
                <a:cs typeface="Courier New" pitchFamily="49" charset="0"/>
              </a:rPr>
              <a:t>	// get the value of the name attribute</a:t>
            </a:r>
          </a:p>
          <a:p>
            <a:pPr marL="365760" lvl="1" indent="0">
              <a:buNone/>
            </a:pPr>
            <a:r>
              <a:rPr lang="en-US" altLang="zh-HK" sz="2300" dirty="0">
                <a:latin typeface="Courier New" pitchFamily="49" charset="0"/>
                <a:cs typeface="Courier New" pitchFamily="49" charset="0"/>
              </a:rPr>
              <a:t>	String name = </a:t>
            </a:r>
            <a:r>
              <a:rPr lang="en-US" altLang="zh-HK" sz="2300" dirty="0" err="1">
                <a:latin typeface="Courier New" pitchFamily="49" charset="0"/>
                <a:cs typeface="Courier New" pitchFamily="49" charset="0"/>
              </a:rPr>
              <a:t>peter.getString</a:t>
            </a:r>
            <a:r>
              <a:rPr lang="en-US" altLang="zh-HK" sz="2300" dirty="0">
                <a:latin typeface="Courier New" pitchFamily="49" charset="0"/>
                <a:cs typeface="Courier New" pitchFamily="49" charset="0"/>
              </a:rPr>
              <a:t>("name");</a:t>
            </a:r>
          </a:p>
          <a:p>
            <a:pPr marL="365760" lvl="1" indent="0">
              <a:buNone/>
            </a:pPr>
            <a:r>
              <a:rPr lang="en-US" altLang="zh-HK" sz="23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HK" sz="23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zh-HK" sz="2300" dirty="0">
                <a:latin typeface="Courier New" pitchFamily="49" charset="0"/>
                <a:cs typeface="Courier New" pitchFamily="49" charset="0"/>
              </a:rPr>
              <a:t>(name + " " + age);</a:t>
            </a:r>
          </a:p>
          <a:p>
            <a:pPr marL="365760" lvl="1" indent="0">
              <a:buNone/>
            </a:pPr>
            <a:r>
              <a:rPr lang="en-US" altLang="zh-HK" sz="2300" dirty="0">
                <a:latin typeface="Courier New" pitchFamily="49" charset="0"/>
                <a:cs typeface="Courier New" pitchFamily="49" charset="0"/>
              </a:rPr>
              <a:t>} catch (Exception e) {</a:t>
            </a:r>
          </a:p>
          <a:p>
            <a:pPr marL="365760" lvl="1" indent="0">
              <a:buNone/>
            </a:pPr>
            <a:r>
              <a:rPr lang="en-US" altLang="zh-HK" sz="23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HK" sz="2300" dirty="0" err="1">
                <a:latin typeface="Courier New" pitchFamily="49" charset="0"/>
                <a:cs typeface="Courier New" pitchFamily="49" charset="0"/>
              </a:rPr>
              <a:t>e.printStackTrace</a:t>
            </a:r>
            <a:r>
              <a:rPr lang="en-US" altLang="zh-HK" sz="23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365760" lvl="1" indent="0">
              <a:buNone/>
            </a:pPr>
            <a:r>
              <a:rPr lang="en-US" altLang="zh-HK" sz="23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40859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/>
              <a:t>The JSON Java library in official web site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HK" dirty="0"/>
              <a:t>A JSON string can be generated by the </a:t>
            </a:r>
            <a:r>
              <a:rPr lang="en-US" altLang="zh-HK" dirty="0" err="1"/>
              <a:t>toString</a:t>
            </a:r>
            <a:r>
              <a:rPr lang="en-US" altLang="zh-HK" dirty="0"/>
              <a:t>() method of </a:t>
            </a:r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JSONObject</a:t>
            </a:r>
            <a:r>
              <a:rPr lang="en-US" altLang="zh-HK" dirty="0"/>
              <a:t>:</a:t>
            </a:r>
          </a:p>
          <a:p>
            <a:pPr marL="365760" lvl="1" indent="0">
              <a:buNone/>
            </a:pP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try {</a:t>
            </a:r>
          </a:p>
          <a:p>
            <a:pPr marL="365760" lvl="1" indent="0">
              <a:buNone/>
            </a:pP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	// create an empty 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JSONObject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 object</a:t>
            </a:r>
          </a:p>
          <a:p>
            <a:pPr marL="365760" lvl="1" indent="0">
              <a:buNone/>
            </a:pP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JSONObject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 peter = new 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JSONObject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365760" lvl="1" indent="0">
              <a:buNone/>
            </a:pP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	// add name attribute</a:t>
            </a:r>
          </a:p>
          <a:p>
            <a:pPr marL="365760" lvl="1" indent="0">
              <a:buNone/>
            </a:pP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peter.put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("name", "peter");</a:t>
            </a:r>
          </a:p>
          <a:p>
            <a:pPr marL="365760" lvl="1" indent="0">
              <a:buNone/>
            </a:pP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	// add age attribute</a:t>
            </a:r>
          </a:p>
          <a:p>
            <a:pPr marL="365760" lvl="1" indent="0">
              <a:buNone/>
            </a:pP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peter.put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("age", 50);</a:t>
            </a:r>
          </a:p>
          <a:p>
            <a:pPr marL="365760" lvl="1" indent="0">
              <a:buNone/>
            </a:pP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	// generate and print the JSON string</a:t>
            </a:r>
          </a:p>
          <a:p>
            <a:pPr marL="365760" lvl="1" indent="0">
              <a:buNone/>
            </a:pP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peter.toString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());  </a:t>
            </a:r>
          </a:p>
          <a:p>
            <a:pPr marL="365760" lvl="1" indent="0">
              <a:buNone/>
            </a:pP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	// {"age":50,"name":"peter"}</a:t>
            </a:r>
          </a:p>
          <a:p>
            <a:pPr marL="365760" lvl="1" indent="0">
              <a:buNone/>
            </a:pP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} catch (Exception e) {</a:t>
            </a:r>
          </a:p>
          <a:p>
            <a:pPr marL="365760" lvl="1" indent="0">
              <a:buNone/>
            </a:pP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e.printStackTrace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365760" lvl="1" indent="0">
              <a:buNone/>
            </a:pP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21301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References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JSON Official Web Page - </a:t>
            </a:r>
            <a:r>
              <a:rPr lang="en-US" altLang="zh-HK" dirty="0">
                <a:hlinkClick r:id="rId2"/>
              </a:rPr>
              <a:t>http://www.json.org/</a:t>
            </a:r>
            <a:endParaRPr lang="en-US" altLang="zh-HK" dirty="0"/>
          </a:p>
          <a:p>
            <a:r>
              <a:rPr lang="en-US" altLang="zh-HK" dirty="0"/>
              <a:t>Java JSON library </a:t>
            </a:r>
            <a:r>
              <a:rPr lang="en-US" altLang="zh-HK"/>
              <a:t>- </a:t>
            </a:r>
            <a:r>
              <a:rPr lang="en-US" altLang="zh-HK">
                <a:hlinkClick r:id="rId3"/>
              </a:rPr>
              <a:t>https://github.com/stleary/JSON-java</a:t>
            </a:r>
            <a:endParaRPr lang="en-US" altLang="zh-HK" dirty="0"/>
          </a:p>
          <a:p>
            <a:r>
              <a:rPr lang="en-US" altLang="zh-HK" dirty="0"/>
              <a:t>Ajax with JSON -</a:t>
            </a:r>
            <a:r>
              <a:rPr lang="en-US" altLang="zh-HK" dirty="0">
                <a:hlinkClick r:id="rId4"/>
              </a:rPr>
              <a:t>http://www.tutorialspoint.com/json/json_ajax_example.htm</a:t>
            </a:r>
            <a:endParaRPr lang="en-US" altLang="zh-HK" dirty="0"/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914310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線">
  <a:themeElements>
    <a:clrScheme name="流線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流線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線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535</TotalTime>
  <Words>1217</Words>
  <Application>Microsoft Office PowerPoint</Application>
  <PresentationFormat>On-screen Show (4:3)</PresentationFormat>
  <Paragraphs>162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微軟正黑體</vt:lpstr>
      <vt:lpstr>新細明體</vt:lpstr>
      <vt:lpstr>Calibri</vt:lpstr>
      <vt:lpstr>Constantia</vt:lpstr>
      <vt:lpstr>Courier New</vt:lpstr>
      <vt:lpstr>Wingdings 2</vt:lpstr>
      <vt:lpstr>流線</vt:lpstr>
      <vt:lpstr>JavaScript Object Notation (JSON)</vt:lpstr>
      <vt:lpstr>What is JSON?</vt:lpstr>
      <vt:lpstr>Why JSON?</vt:lpstr>
      <vt:lpstr>Supported Types</vt:lpstr>
      <vt:lpstr>Syntax</vt:lpstr>
      <vt:lpstr>Syntax (cont)</vt:lpstr>
      <vt:lpstr>Syntax (cont)</vt:lpstr>
      <vt:lpstr>Syntax (cont)</vt:lpstr>
      <vt:lpstr>Converting Object to JSON String</vt:lpstr>
      <vt:lpstr>Converting JSON String to Object</vt:lpstr>
      <vt:lpstr>Converting JSON String to Object (cont)</vt:lpstr>
      <vt:lpstr>Using JSON in Ajax Request</vt:lpstr>
      <vt:lpstr>Using JSON in Ajax Request (cont)</vt:lpstr>
      <vt:lpstr>The JSON Java library in official web site</vt:lpstr>
      <vt:lpstr>The JSON Java library in official web site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Object Notation (JSON)</dc:title>
  <dc:creator>Clarence</dc:creator>
  <cp:lastModifiedBy>Clarence Lau</cp:lastModifiedBy>
  <cp:revision>38</cp:revision>
  <dcterms:created xsi:type="dcterms:W3CDTF">2013-08-13T04:43:42Z</dcterms:created>
  <dcterms:modified xsi:type="dcterms:W3CDTF">2022-11-16T03:19:03Z</dcterms:modified>
</cp:coreProperties>
</file>