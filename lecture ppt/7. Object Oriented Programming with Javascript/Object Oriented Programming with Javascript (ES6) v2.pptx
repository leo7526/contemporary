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71" r:id="rId7"/>
    <p:sldId id="272" r:id="rId8"/>
    <p:sldId id="273" r:id="rId9"/>
    <p:sldId id="275" r:id="rId10"/>
    <p:sldId id="276" r:id="rId11"/>
    <p:sldId id="274" r:id="rId12"/>
  </p:sldIdLst>
  <p:sldSz cx="9144000" cy="6858000" type="screen4x3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34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80294-E48C-4137-A134-9246AE825441}" type="datetimeFigureOut">
              <a:rPr lang="zh-HK" altLang="en-US" smtClean="0"/>
              <a:t>19/10/2022</a:t>
            </a:fld>
            <a:endParaRPr lang="zh-HK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0C336-597B-4C1D-AE4D-C99161FBC38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21170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D0C336-597B-4C1D-AE4D-C99161FBC381}" type="slidenum">
              <a:rPr lang="zh-HK" altLang="en-US" smtClean="0"/>
              <a:t>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81350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0C336-597B-4C1D-AE4D-C99161FBC381}" type="slidenum">
              <a:rPr lang="zh-HK" altLang="en-US" smtClean="0"/>
              <a:t>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70674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0C336-597B-4C1D-AE4D-C99161FBC381}" type="slidenum">
              <a:rPr lang="zh-HK" altLang="en-US" smtClean="0"/>
              <a:t>10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56993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8543-E1A1-409C-A22E-BC44F52B4812}" type="datetime1">
              <a:rPr lang="zh-HK" altLang="en-US" smtClean="0"/>
              <a:t>19/10/2022</a:t>
            </a:fld>
            <a:endParaRPr lang="zh-HK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44671-8E69-4738-B716-430EE987378B}" type="datetime1">
              <a:rPr lang="zh-HK" altLang="en-US" smtClean="0"/>
              <a:t>19/10/2022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F1BF-4051-4A98-9EEC-64012D4EEFF9}" type="datetime1">
              <a:rPr lang="zh-HK" altLang="en-US" smtClean="0"/>
              <a:t>19/10/2022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758B3-444A-4185-82E1-81E42AD038E7}" type="datetime1">
              <a:rPr lang="zh-HK" altLang="en-US" smtClean="0"/>
              <a:t>19/10/2022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4046-1AEC-4315-9694-FCB957DF5B5B}" type="datetime1">
              <a:rPr lang="zh-HK" altLang="en-US" smtClean="0"/>
              <a:t>19/10/2022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4796-27D6-4C88-89D4-AD8B5529BF20}" type="datetime1">
              <a:rPr lang="zh-HK" altLang="en-US" smtClean="0"/>
              <a:t>19/10/2022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9D186-455A-4D03-AAAC-6061017DF5BE}" type="datetime1">
              <a:rPr lang="zh-HK" altLang="en-US" smtClean="0"/>
              <a:t>19/10/2022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6450-E350-4FC9-93F9-36D75D16BBA6}" type="datetime1">
              <a:rPr lang="zh-HK" altLang="en-US" smtClean="0"/>
              <a:t>19/10/2022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C051-93FF-424F-AB27-54F2FFB1847D}" type="datetime1">
              <a:rPr lang="zh-HK" altLang="en-US" smtClean="0"/>
              <a:t>19/10/2022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A77BF74-4D49-4B44-ABF4-339C62A0425C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E5FE-F3D7-4F43-8A45-91A3548CA280}" type="datetime1">
              <a:rPr lang="zh-HK" altLang="en-US" smtClean="0"/>
              <a:t>19/10/2022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6EB5F-688F-49E9-8E93-C19353E5F2A1}" type="datetime1">
              <a:rPr lang="zh-HK" altLang="en-US" smtClean="0"/>
              <a:t>19/10/2022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AAA3EEE-CE81-4A02-AAB6-00E057E5C728}" type="datetime1">
              <a:rPr lang="zh-HK" altLang="en-US" smtClean="0"/>
              <a:t>19/10/2022</a:t>
            </a:fld>
            <a:endParaRPr lang="zh-HK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A77BF74-4D49-4B44-ABF4-339C62A0425C}" type="slidenum">
              <a:rPr lang="zh-HK" altLang="en-US" smtClean="0"/>
              <a:t>‹#›</a:t>
            </a:fld>
            <a:endParaRPr lang="zh-HK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262.ecma-international.org/" TargetMode="External"/><Relationship Id="rId2" Type="http://schemas.openxmlformats.org/officeDocument/2006/relationships/hyperlink" Target="https://vegibit.com/es6-class-tutoria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55576" y="249289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altLang="zh-HK" dirty="0"/>
              <a:t>Object Oriented Programming </a:t>
            </a:r>
            <a:r>
              <a:rPr lang="en-US" altLang="zh-HK"/>
              <a:t>with Javascript (</a:t>
            </a:r>
            <a:r>
              <a:rPr lang="en-US"/>
              <a:t>ECMAScript 6)</a:t>
            </a:r>
            <a:br>
              <a:rPr lang="en-US"/>
            </a:br>
            <a:r>
              <a:rPr lang="en-US" b="0">
                <a:effectLst/>
              </a:rPr>
              <a:t> </a:t>
            </a:r>
            <a:endParaRPr lang="zh-HK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8610600" cy="1752600"/>
          </a:xfrm>
        </p:spPr>
        <p:txBody>
          <a:bodyPr/>
          <a:lstStyle/>
          <a:p>
            <a:r>
              <a:rPr lang="en-US" altLang="zh-HK"/>
              <a:t> 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81053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Creating Single Object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sz="2400" dirty="0"/>
              <a:t>The following </a:t>
            </a:r>
            <a:r>
              <a:rPr lang="en-US" altLang="zh-HK" sz="2400"/>
              <a:t>code creates </a:t>
            </a:r>
            <a:r>
              <a:rPr lang="en-US" altLang="zh-HK" sz="2400" dirty="0"/>
              <a:t>an object </a:t>
            </a:r>
            <a:r>
              <a:rPr lang="en-US" altLang="zh-HK" sz="2400"/>
              <a:t>and adds 2 </a:t>
            </a:r>
            <a:r>
              <a:rPr lang="en-US" altLang="zh-HK" sz="2400" dirty="0"/>
              <a:t>attributes:</a:t>
            </a:r>
          </a:p>
          <a:p>
            <a:pPr marL="400050" lvl="1" indent="0">
              <a:buNone/>
            </a:pP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person = new Object(); // create an object</a:t>
            </a:r>
          </a:p>
          <a:p>
            <a:pPr marL="400050" lvl="1" indent="0">
              <a:buNone/>
            </a:pP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person.name = "John";  // add the name attribute</a:t>
            </a:r>
          </a:p>
          <a:p>
            <a:pPr marL="400050" lvl="1" indent="0">
              <a:buNone/>
            </a:pP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Person["gender"] = "male"; // add the gender attribute </a:t>
            </a:r>
          </a:p>
          <a:p>
            <a:r>
              <a:rPr lang="en-US" altLang="zh-HK" sz="2400" dirty="0"/>
              <a:t>Alternatively, using object lateral:</a:t>
            </a:r>
          </a:p>
          <a:p>
            <a:pPr marL="400050" lvl="1" indent="0">
              <a:buNone/>
            </a:pP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person={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name:"John",gender:"male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"};  </a:t>
            </a:r>
          </a:p>
          <a:p>
            <a:pPr marL="400050" lvl="1" indent="0">
              <a:buNone/>
            </a:pPr>
            <a:endParaRPr lang="en-US" altLang="zh-HK" sz="1800" dirty="0"/>
          </a:p>
          <a:p>
            <a:r>
              <a:rPr lang="en-US" altLang="zh-HK" sz="2400" dirty="0"/>
              <a:t>Attribute of an object can be accessed by</a:t>
            </a:r>
          </a:p>
          <a:p>
            <a:pPr marL="400050" lvl="1" indent="0">
              <a:buNone/>
            </a:pP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obj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["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attributeName</a:t>
            </a:r>
            <a:r>
              <a:rPr lang="en-US" altLang="zh-HK" sz="1800" dirty="0">
                <a:latin typeface="Courier New" pitchFamily="49" charset="0"/>
                <a:cs typeface="Courier New" pitchFamily="49" charset="0"/>
              </a:rPr>
              <a:t>"] </a:t>
            </a:r>
            <a:r>
              <a:rPr lang="en-US" altLang="zh-HK" sz="1800" dirty="0"/>
              <a:t>or  </a:t>
            </a:r>
            <a:r>
              <a:rPr lang="en-US" altLang="zh-HK" sz="1800" dirty="0" err="1">
                <a:latin typeface="Courier New" pitchFamily="49" charset="0"/>
                <a:cs typeface="Courier New" pitchFamily="49" charset="0"/>
              </a:rPr>
              <a:t>obj.attributeName</a:t>
            </a:r>
            <a:endParaRPr lang="zh-HK" alt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D73F0-350F-4065-BCC7-92DC6757A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02711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HK"/>
              <a:t>ECMAScript 6 (ES6) Class, Constructor and Method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805888"/>
          </a:xfrm>
        </p:spPr>
        <p:txBody>
          <a:bodyPr>
            <a:normAutofit/>
          </a:bodyPr>
          <a:lstStyle/>
          <a:p>
            <a:r>
              <a:rPr lang="en-US" altLang="zh-HK" dirty="0"/>
              <a:t>Define </a:t>
            </a:r>
            <a:r>
              <a:rPr lang="en-US" altLang="zh-HK"/>
              <a:t>a class </a:t>
            </a:r>
            <a:r>
              <a:rPr lang="en-US" altLang="zh-HK" dirty="0"/>
              <a:t>(e.g. Person):</a:t>
            </a:r>
          </a:p>
          <a:p>
            <a:pPr marL="0" lvl="1" indent="0">
              <a:buNone/>
            </a:pPr>
            <a:r>
              <a:rPr lang="en-US" altLang="zh-HK" sz="170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17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altLang="zh-HK" sz="1700">
                <a:latin typeface="Courier New" pitchFamily="49" charset="0"/>
                <a:cs typeface="Courier New" pitchFamily="49" charset="0"/>
              </a:rPr>
              <a:t> Person {</a:t>
            </a:r>
          </a:p>
          <a:p>
            <a:pPr marL="0" lvl="1" indent="0">
              <a:buNone/>
            </a:pPr>
            <a:r>
              <a:rPr lang="en-US" altLang="zh-HK" sz="170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HK" sz="17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constructor</a:t>
            </a:r>
            <a:r>
              <a:rPr lang="en-US" altLang="zh-HK" sz="1700">
                <a:latin typeface="Courier New" pitchFamily="49" charset="0"/>
                <a:cs typeface="Courier New" pitchFamily="49" charset="0"/>
              </a:rPr>
              <a:t>(name, gender) {  </a:t>
            </a:r>
          </a:p>
          <a:p>
            <a:pPr marL="0" lvl="1" indent="0">
              <a:buNone/>
            </a:pPr>
            <a:r>
              <a:rPr lang="en-US" altLang="zh-HK" sz="1700">
                <a:latin typeface="Courier New" pitchFamily="49" charset="0"/>
                <a:cs typeface="Courier New" pitchFamily="49" charset="0"/>
              </a:rPr>
              <a:t>	this.name = name;  // add and set the name attribute</a:t>
            </a:r>
          </a:p>
          <a:p>
            <a:pPr marL="0" lvl="1" indent="0">
              <a:buNone/>
            </a:pPr>
            <a:r>
              <a:rPr lang="en-US" altLang="zh-HK" sz="1700">
                <a:latin typeface="Courier New" pitchFamily="49" charset="0"/>
                <a:cs typeface="Courier New" pitchFamily="49" charset="0"/>
              </a:rPr>
              <a:t>	this.gender = gender; // add and set the gender attribute</a:t>
            </a:r>
          </a:p>
          <a:p>
            <a:pPr marL="0" lvl="1" indent="0">
              <a:buNone/>
            </a:pPr>
            <a:r>
              <a:rPr lang="en-US" altLang="zh-HK" sz="170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lvl="1" indent="0">
              <a:buNone/>
            </a:pPr>
            <a:r>
              <a:rPr lang="en-US" altLang="zh-HK" sz="1700">
                <a:latin typeface="Courier New" pitchFamily="49" charset="0"/>
                <a:cs typeface="Courier New" pitchFamily="49" charset="0"/>
              </a:rPr>
              <a:t>    toString() { // public method</a:t>
            </a:r>
          </a:p>
          <a:p>
            <a:pPr marL="0" lvl="1" indent="0">
              <a:buNone/>
            </a:pPr>
            <a:r>
              <a:rPr lang="en-US" altLang="zh-HK" sz="1700">
                <a:latin typeface="Courier New" pitchFamily="49" charset="0"/>
                <a:cs typeface="Courier New" pitchFamily="49" charset="0"/>
              </a:rPr>
              <a:t>	return this.name + " " + this.gender;</a:t>
            </a:r>
          </a:p>
          <a:p>
            <a:pPr marL="0" lvl="1" indent="0">
              <a:buNone/>
            </a:pPr>
            <a:r>
              <a:rPr lang="en-US" altLang="zh-HK" sz="1700">
                <a:latin typeface="Courier New" pitchFamily="49" charset="0"/>
                <a:cs typeface="Courier New" pitchFamily="49" charset="0"/>
              </a:rPr>
              <a:t>    }  </a:t>
            </a:r>
          </a:p>
          <a:p>
            <a:pPr marL="0" lvl="1" indent="0">
              <a:buNone/>
            </a:pPr>
            <a:r>
              <a:rPr lang="en-US" altLang="zh-HK" sz="1700"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altLang="zh-HK"/>
              <a:t>Create an object using the ‘</a:t>
            </a:r>
            <a:r>
              <a:rPr lang="en-US" altLang="zh-HK"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zh-HK"/>
              <a:t>’ operator:</a:t>
            </a:r>
          </a:p>
          <a:p>
            <a:pPr marL="400050" lvl="1" indent="0">
              <a:buNone/>
            </a:pPr>
            <a:r>
              <a:rPr lang="en-US" altLang="zh-HK" sz="1800">
                <a:latin typeface="Courier New" pitchFamily="49" charset="0"/>
                <a:cs typeface="Courier New" pitchFamily="49" charset="0"/>
              </a:rPr>
              <a:t>// create a Person object using the constructor</a:t>
            </a:r>
          </a:p>
          <a:p>
            <a:pPr marL="400050" lvl="1" indent="0">
              <a:buNone/>
            </a:pPr>
            <a:r>
              <a:rPr lang="en-US" altLang="zh-HK" sz="1800">
                <a:latin typeface="Courier New" pitchFamily="49" charset="0"/>
                <a:cs typeface="Courier New" pitchFamily="49" charset="0"/>
              </a:rPr>
              <a:t>person = new Person("John", "male");  </a:t>
            </a:r>
          </a:p>
          <a:p>
            <a:pPr marL="400050" lvl="1" indent="0">
              <a:buNone/>
            </a:pPr>
            <a:r>
              <a:rPr lang="en-US" altLang="zh-HK" sz="1800">
                <a:latin typeface="Courier New" pitchFamily="49" charset="0"/>
                <a:cs typeface="Courier New" pitchFamily="49" charset="0"/>
              </a:rPr>
              <a:t>console.log(person.toString()); // 'John male' is displayed</a:t>
            </a:r>
            <a:endParaRPr lang="zh-HK" alt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18F5B-C860-4289-869E-C8BB2446A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02823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/>
              <a:t>ECMAScript 6 (ES6) Getters and Setters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935480"/>
            <a:ext cx="9036496" cy="4805888"/>
          </a:xfrm>
        </p:spPr>
        <p:txBody>
          <a:bodyPr>
            <a:normAutofit fontScale="85000" lnSpcReduction="20000"/>
          </a:bodyPr>
          <a:lstStyle/>
          <a:p>
            <a:r>
              <a:rPr lang="en-US" altLang="zh-HK"/>
              <a:t>You can define getter and setter methods by using keywords </a:t>
            </a:r>
            <a:r>
              <a:rPr lang="en-US" altLang="zh-HK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get</a:t>
            </a:r>
            <a:r>
              <a:rPr lang="en-US" altLang="zh-HK"/>
              <a:t> and </a:t>
            </a:r>
            <a:r>
              <a:rPr lang="en-US" altLang="zh-HK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altLang="zh-HK"/>
              <a:t>. 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// define the Person class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class Person {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constructor(name, gender) {  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  this._name = name;  // add and set the _name attribute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  this._gender = gender; // add and set the _gender attribute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HK" sz="16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get</a:t>
            </a: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name() { return this._name;}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HK" sz="16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get</a:t>
            </a: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gender() {return this._gender;}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HK" sz="16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name(name) {this._name = name;}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HK" sz="16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gender(gender) {this._gender = gender;}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person = new Person("Mary", "male");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person.gender = "female"; // the setter method of gender is called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// the getter methods are called</a:t>
            </a:r>
          </a:p>
          <a:p>
            <a:pPr lvl="1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console.log(person.name + " " + person.gender); // 'Mary female' is displayed</a:t>
            </a:r>
            <a:endParaRPr lang="zh-HK" alt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9EC82-9044-435B-8688-1855A8B0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31228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/>
              <a:t>ECMAScript 6 (ES6) Classical </a:t>
            </a:r>
            <a:r>
              <a:rPr lang="en-US" altLang="zh-HK" dirty="0"/>
              <a:t>Inheritance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4516" y="1844370"/>
            <a:ext cx="9299376" cy="45517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class Person {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constructor(name) { this.name = name; }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getName()  { return this.name; }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toString() { return this.name; }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class Student </a:t>
            </a:r>
            <a:r>
              <a:rPr lang="en-US" altLang="zh-HK" sz="140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Person {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constructor(name, studentID) {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HK" sz="140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super(name)</a:t>
            </a:r>
            <a:r>
              <a:rPr lang="en-US" altLang="zh-HK" sz="1400">
                <a:latin typeface="Courier New" pitchFamily="49" charset="0"/>
                <a:cs typeface="Courier New" pitchFamily="49" charset="0"/>
              </a:rPr>
              <a:t>; // call the Person's constructor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this.studentID = studentID;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getStudentID() { return this.studentID; }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1400">
                <a:highlight>
                  <a:srgbClr val="00FFFF"/>
                </a:highlight>
                <a:latin typeface="Courier New" pitchFamily="49" charset="0"/>
                <a:cs typeface="Courier New" pitchFamily="49" charset="0"/>
              </a:rPr>
              <a:t>toString() { // override the toString method of super class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return "Student " + </a:t>
            </a:r>
            <a:r>
              <a:rPr lang="en-US" altLang="zh-HK" sz="140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super.toString()</a:t>
            </a: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+ ", student ID = " + this.studentID;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var peter = new Student('Peter', 12345678);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console.log(peter.getName()); // 'Peter' is displayed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console.log(peter.getStudentID());// '12345678' is displayed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console.log(peter.toString());// 'Student Peter, student ID = 12345678' is displayed</a:t>
            </a:r>
            <a:endParaRPr lang="zh-HK" altLang="en-US" sz="14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3D7E40-EEDA-4A19-A03C-17813C186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344" y="1087947"/>
            <a:ext cx="3305175" cy="303847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738E0-BB7F-44EC-8403-94C09FB3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55419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Scope, Nested Functions, and Closures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589864"/>
          </a:xfrm>
        </p:spPr>
        <p:txBody>
          <a:bodyPr>
            <a:normAutofit fontScale="40000" lnSpcReduction="20000"/>
          </a:bodyPr>
          <a:lstStyle/>
          <a:p>
            <a:r>
              <a:rPr lang="en-US" altLang="zh-HK" sz="4500" dirty="0"/>
              <a:t>A variable declared with ‘</a:t>
            </a:r>
            <a:r>
              <a:rPr lang="en-US" altLang="zh-HK" sz="45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4500" dirty="0"/>
              <a:t>’ or nested function is only visible within the function scope:</a:t>
            </a:r>
          </a:p>
          <a:p>
            <a:pPr marL="365760" lvl="1" indent="0">
              <a:buNone/>
            </a:pP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altLang="zh-HK" sz="4000" dirty="0" err="1">
                <a:latin typeface="Courier New" pitchFamily="49" charset="0"/>
                <a:cs typeface="Courier New" pitchFamily="49" charset="0"/>
              </a:rPr>
              <a:t>funcA</a:t>
            </a: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 marL="365760" lvl="1" indent="0">
              <a:buNone/>
            </a:pP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    // n is only visible in </a:t>
            </a:r>
            <a:r>
              <a:rPr lang="en-US" altLang="zh-HK" sz="4000" dirty="0" err="1">
                <a:latin typeface="Courier New" pitchFamily="49" charset="0"/>
                <a:cs typeface="Courier New" pitchFamily="49" charset="0"/>
              </a:rPr>
              <a:t>funcA</a:t>
            </a: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 and initialized only once</a:t>
            </a:r>
          </a:p>
          <a:p>
            <a:pPr marL="365760" lvl="1" indent="0">
              <a:buNone/>
            </a:pP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HK" sz="4000" b="1" dirty="0" err="1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40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HK" sz="4000" b="1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n</a:t>
            </a:r>
            <a:r>
              <a:rPr lang="en-US" altLang="zh-HK" sz="40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= 10; </a:t>
            </a:r>
          </a:p>
          <a:p>
            <a:pPr marL="365760" lvl="1" indent="0">
              <a:buNone/>
            </a:pP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    // private and nested function</a:t>
            </a:r>
          </a:p>
          <a:p>
            <a:pPr marL="365760" lvl="1" indent="0">
              <a:buNone/>
            </a:pP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    function </a:t>
            </a:r>
            <a:r>
              <a:rPr lang="en-US" altLang="zh-HK" sz="4000" dirty="0" err="1">
                <a:latin typeface="Courier New" pitchFamily="49" charset="0"/>
                <a:cs typeface="Courier New" pitchFamily="49" charset="0"/>
              </a:rPr>
              <a:t>addTwo</a:t>
            </a: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() { // </a:t>
            </a:r>
            <a:r>
              <a:rPr lang="en-US" altLang="zh-HK" sz="4000" dirty="0" err="1">
                <a:latin typeface="Courier New" pitchFamily="49" charset="0"/>
                <a:cs typeface="Courier New" pitchFamily="49" charset="0"/>
              </a:rPr>
              <a:t>addTwo</a:t>
            </a: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 is only visible in </a:t>
            </a:r>
            <a:r>
              <a:rPr lang="en-US" altLang="zh-HK" sz="4000" dirty="0" err="1">
                <a:latin typeface="Courier New" pitchFamily="49" charset="0"/>
                <a:cs typeface="Courier New" pitchFamily="49" charset="0"/>
              </a:rPr>
              <a:t>funcA</a:t>
            </a:r>
            <a:endParaRPr lang="en-US" altLang="zh-HK" sz="4000" dirty="0">
              <a:latin typeface="Courier New" pitchFamily="49" charset="0"/>
              <a:cs typeface="Courier New" pitchFamily="49" charset="0"/>
            </a:endParaRPr>
          </a:p>
          <a:p>
            <a:pPr marL="365760" lvl="1" indent="0">
              <a:buNone/>
            </a:pP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        n += 2;</a:t>
            </a:r>
          </a:p>
          <a:p>
            <a:pPr marL="365760" lvl="1" indent="0">
              <a:buNone/>
            </a:pP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        return n;</a:t>
            </a:r>
          </a:p>
          <a:p>
            <a:pPr marL="365760" lvl="1" indent="0">
              <a:buNone/>
            </a:pP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365760" lvl="1" indent="0">
              <a:buNone/>
            </a:pP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marL="365760" lvl="1" indent="0">
              <a:buNone/>
            </a:pP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    return </a:t>
            </a:r>
            <a:r>
              <a:rPr lang="en-US" altLang="zh-HK" sz="4000" dirty="0" err="1">
                <a:latin typeface="Courier New" pitchFamily="49" charset="0"/>
                <a:cs typeface="Courier New" pitchFamily="49" charset="0"/>
              </a:rPr>
              <a:t>addTwo</a:t>
            </a: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; // return </a:t>
            </a:r>
            <a:r>
              <a:rPr lang="en-US" altLang="zh-HK" sz="4000" dirty="0" err="1">
                <a:latin typeface="Courier New" pitchFamily="49" charset="0"/>
                <a:cs typeface="Courier New" pitchFamily="49" charset="0"/>
              </a:rPr>
              <a:t>addTwo</a:t>
            </a:r>
            <a:endParaRPr lang="en-US" altLang="zh-HK" sz="4000" dirty="0">
              <a:latin typeface="Courier New" pitchFamily="49" charset="0"/>
              <a:cs typeface="Courier New" pitchFamily="49" charset="0"/>
            </a:endParaRPr>
          </a:p>
          <a:p>
            <a:pPr marL="365760" lvl="1" indent="0">
              <a:buNone/>
            </a:pP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65760" lvl="1" indent="0">
              <a:buNone/>
            </a:pPr>
            <a:endParaRPr lang="en-US" altLang="zh-HK" sz="4000" dirty="0">
              <a:latin typeface="Courier New" pitchFamily="49" charset="0"/>
              <a:cs typeface="Courier New" pitchFamily="49" charset="0"/>
            </a:endParaRPr>
          </a:p>
          <a:p>
            <a:pPr marL="365760" lvl="1" indent="0">
              <a:buNone/>
            </a:pPr>
            <a:r>
              <a:rPr lang="en-US" altLang="zh-HK" sz="40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 f = </a:t>
            </a:r>
            <a:r>
              <a:rPr lang="en-US" altLang="zh-HK" sz="4000" dirty="0" err="1">
                <a:latin typeface="Courier New" pitchFamily="49" charset="0"/>
                <a:cs typeface="Courier New" pitchFamily="49" charset="0"/>
              </a:rPr>
              <a:t>funcA</a:t>
            </a: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(); // get </a:t>
            </a:r>
            <a:r>
              <a:rPr lang="en-US" altLang="zh-HK" sz="4000" dirty="0" err="1">
                <a:latin typeface="Courier New" pitchFamily="49" charset="0"/>
                <a:cs typeface="Courier New" pitchFamily="49" charset="0"/>
              </a:rPr>
              <a:t>addTwo</a:t>
            </a: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 and assign to f</a:t>
            </a:r>
          </a:p>
          <a:p>
            <a:pPr marL="365760" lvl="1" indent="0">
              <a:buNone/>
            </a:pP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console.log(f()); // f() returns 12</a:t>
            </a:r>
          </a:p>
          <a:p>
            <a:pPr marL="365760" lvl="1" indent="0">
              <a:buNone/>
            </a:pP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console.log(f()); // f() returns 14</a:t>
            </a:r>
          </a:p>
          <a:p>
            <a:pPr marL="365760" lvl="1" indent="0">
              <a:buNone/>
            </a:pPr>
            <a:r>
              <a:rPr lang="en-US" altLang="zh-HK" sz="4000" dirty="0">
                <a:latin typeface="Courier New" pitchFamily="49" charset="0"/>
                <a:cs typeface="Courier New" pitchFamily="49" charset="0"/>
              </a:rPr>
              <a:t>console.log(f()); // f() returns 16</a:t>
            </a:r>
            <a:endParaRPr lang="zh-HK" alt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BAEA2-0682-4316-877D-5B4FDC6B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694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HK" dirty="0"/>
              <a:t>Private Members Through Closures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6"/>
            <a:ext cx="8363272" cy="54452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class Person {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constructor(name, newgender) {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HK" sz="140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var gender</a:t>
            </a:r>
            <a:r>
              <a:rPr lang="en-US" altLang="zh-HK" sz="1400">
                <a:latin typeface="Courier New" pitchFamily="49" charset="0"/>
                <a:cs typeface="Courier New" pitchFamily="49" charset="0"/>
              </a:rPr>
              <a:t>;  // declare private attribute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function checkGender(newgender) {// private function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  return newgender == 'male' || newgender == 'female';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// public privileged functions    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this.setGender = function(newgender) { 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  if (checkGender(newgender))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    gender = newgender;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  else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	throw new Error('Invalid gender');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this.getGender = function() { return gender; };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// initialize the attributes of Person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this.setGender(newgender);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  this.name = name; // public attribute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} // constructor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 marL="0" indent="0">
              <a:buNone/>
            </a:pPr>
            <a:r>
              <a:rPr lang="en-US" altLang="zh-HK" sz="1400">
                <a:latin typeface="Courier New" pitchFamily="49" charset="0"/>
                <a:cs typeface="Courier New" pitchFamily="49" charset="0"/>
              </a:rPr>
              <a:t>  getName() { return this.name; } 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}</a:t>
            </a:r>
            <a:endParaRPr lang="en-US" altLang="zh-HK" sz="16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212976"/>
            <a:ext cx="2510586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AF16A9-474B-4270-AD77-7AAF0202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28496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Private Members Through Closures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4797152"/>
            <a:ext cx="8229600" cy="15274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var peter = new Person('peter', 'male');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console.log(peter.gender);  // 'undefined' is displayed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console.log(peter.getName()); // 'peter' is displayed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console.log(peter.getGender()); // 'male' is displayed</a:t>
            </a:r>
            <a:endParaRPr lang="en-US" altLang="zh-HK" sz="16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1C56AA3-E209-4A81-8FF6-F6BD2BDAD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872981"/>
            <a:ext cx="2510586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83EFB-D909-45E5-A7A6-C10FCB9DF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94215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224136"/>
          </a:xfrm>
        </p:spPr>
        <p:txBody>
          <a:bodyPr>
            <a:noAutofit/>
          </a:bodyPr>
          <a:lstStyle/>
          <a:p>
            <a:r>
              <a:rPr lang="en-US" altLang="zh-HK" sz="4000"/>
              <a:t>Private Members (ECMAScript 2022/ ECMAScript 13)</a:t>
            </a:r>
            <a:endParaRPr lang="zh-HK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686800" cy="55892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class Person {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160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#gender</a:t>
            </a:r>
            <a:r>
              <a:rPr lang="en-US" altLang="zh-HK" sz="1600">
                <a:latin typeface="Courier New" pitchFamily="49" charset="0"/>
                <a:cs typeface="Courier New" pitchFamily="49" charset="0"/>
              </a:rPr>
              <a:t>;  // declare private attribute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constructor(name, newgender) {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   this.name = name;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   this.setGender(newgender);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160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#checkGender</a:t>
            </a:r>
            <a:r>
              <a:rPr lang="en-US" altLang="zh-HK" sz="1600">
                <a:latin typeface="Courier New" pitchFamily="49" charset="0"/>
                <a:cs typeface="Courier New" pitchFamily="49" charset="0"/>
              </a:rPr>
              <a:t>(newgender) {// private function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   return newgender == 'male' || newgender == 'female';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setGender(newgender) { 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   if (this.#checkGender(newgender))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      this.#gender = newgender;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   else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      throw new Error('Invalid gender');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getGender() { return this.#gender; };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  getName() { return this.name; }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}</a:t>
            </a:r>
            <a:endParaRPr lang="en-US" altLang="zh-HK" sz="16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908720"/>
            <a:ext cx="2267744" cy="2406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EBCF8-8644-455D-A62D-F4055B395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50237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HK" sz="4000"/>
              <a:t>Private Members (ECMAScript 2022/ ECMAScript 13)</a:t>
            </a:r>
            <a:endParaRPr lang="zh-HK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4427984"/>
            <a:ext cx="8686800" cy="20162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var peter = new Person('peter', 'male');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console.log(peter.gender);  // 'undefined' is displayed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console.log(peter.getName()); // 'peter' is displayed</a:t>
            </a:r>
          </a:p>
          <a:p>
            <a:pPr marL="0" indent="0">
              <a:buNone/>
            </a:pPr>
            <a:r>
              <a:rPr lang="en-US" altLang="zh-HK" sz="1600">
                <a:latin typeface="Courier New" pitchFamily="49" charset="0"/>
                <a:cs typeface="Courier New" pitchFamily="49" charset="0"/>
              </a:rPr>
              <a:t>console.log(peter.getGender()); // 'male' is displayed</a:t>
            </a:r>
            <a:endParaRPr lang="en-US" altLang="zh-HK" sz="16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128" y="1617086"/>
            <a:ext cx="2267744" cy="2406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0FE03-5ECA-4C15-90DC-CD2482683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10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76630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References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/>
              <a:t>ES6 Class Tutorial (</a:t>
            </a:r>
            <a:r>
              <a:rPr lang="en-US" altLang="zh-HK">
                <a:hlinkClick r:id="rId2"/>
              </a:rPr>
              <a:t>https://vegibit.com/es6-class-tutorial/</a:t>
            </a:r>
            <a:r>
              <a:rPr lang="en-US" altLang="zh-HK"/>
              <a:t>)</a:t>
            </a:r>
          </a:p>
          <a:p>
            <a:r>
              <a:rPr lang="en-US" altLang="zh-HK"/>
              <a:t>ECMAScript® 2022 Language Specification (</a:t>
            </a:r>
            <a:r>
              <a:rPr lang="en-US" altLang="zh-HK">
                <a:hlinkClick r:id="rId3"/>
              </a:rPr>
              <a:t>https://262.ecma-international.org/</a:t>
            </a:r>
            <a:r>
              <a:rPr lang="en-US" altLang="zh-HK"/>
              <a:t>)</a:t>
            </a:r>
          </a:p>
          <a:p>
            <a:pPr marL="0" indent="0">
              <a:buNone/>
            </a:pPr>
            <a:endParaRPr lang="en-US" altLang="zh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E8186-216C-4DB0-BA7E-1D06DFA7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t>11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60835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線">
  <a:themeElements>
    <a:clrScheme name="流線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流線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線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2648</TotalTime>
  <Words>1107</Words>
  <Application>Microsoft Office PowerPoint</Application>
  <PresentationFormat>On-screen Show (4:3)</PresentationFormat>
  <Paragraphs>152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微軟正黑體</vt:lpstr>
      <vt:lpstr>新細明體</vt:lpstr>
      <vt:lpstr>Calibri</vt:lpstr>
      <vt:lpstr>Constantia</vt:lpstr>
      <vt:lpstr>Courier New</vt:lpstr>
      <vt:lpstr>Wingdings 2</vt:lpstr>
      <vt:lpstr>流線</vt:lpstr>
      <vt:lpstr>Object Oriented Programming with Javascript (ECMAScript 6)  </vt:lpstr>
      <vt:lpstr>Creating Single Object</vt:lpstr>
      <vt:lpstr>ECMAScript 6 (ES6) Class, Constructor and Method</vt:lpstr>
      <vt:lpstr>ECMAScript 6 (ES6) Getters and Setters</vt:lpstr>
      <vt:lpstr>ECMAScript 6 (ES6) Classical Inheritance</vt:lpstr>
      <vt:lpstr>Scope, Nested Functions, and Closures</vt:lpstr>
      <vt:lpstr>Private Members Through Closures</vt:lpstr>
      <vt:lpstr>Private Members Through Closures</vt:lpstr>
      <vt:lpstr>Private Members (ECMAScript 2022/ ECMAScript 13)</vt:lpstr>
      <vt:lpstr>Private Members (ECMAScript 2022/ ECMAScript 13)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with Javascript</dc:title>
  <dc:creator>Clarence</dc:creator>
  <cp:lastModifiedBy>Clarence Lau</cp:lastModifiedBy>
  <cp:revision>142</cp:revision>
  <dcterms:created xsi:type="dcterms:W3CDTF">2013-08-10T10:04:05Z</dcterms:created>
  <dcterms:modified xsi:type="dcterms:W3CDTF">2022-10-19T01:46:50Z</dcterms:modified>
</cp:coreProperties>
</file>