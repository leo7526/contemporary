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63" r:id="rId4"/>
    <p:sldId id="264" r:id="rId5"/>
    <p:sldId id="266" r:id="rId6"/>
    <p:sldId id="267" r:id="rId7"/>
    <p:sldId id="268" r:id="rId8"/>
    <p:sldId id="269" r:id="rId9"/>
    <p:sldId id="259" r:id="rId10"/>
    <p:sldId id="270" r:id="rId11"/>
    <p:sldId id="271" r:id="rId12"/>
    <p:sldId id="272" r:id="rId13"/>
    <p:sldId id="275" r:id="rId14"/>
    <p:sldId id="276" r:id="rId15"/>
    <p:sldId id="277" r:id="rId16"/>
    <p:sldId id="278" r:id="rId17"/>
    <p:sldId id="260" r:id="rId18"/>
    <p:sldId id="279" r:id="rId19"/>
    <p:sldId id="283" r:id="rId20"/>
    <p:sldId id="282" r:id="rId21"/>
    <p:sldId id="280" r:id="rId22"/>
    <p:sldId id="281" r:id="rId23"/>
    <p:sldId id="284" r:id="rId24"/>
    <p:sldId id="285" r:id="rId25"/>
    <p:sldId id="286" r:id="rId26"/>
    <p:sldId id="287" r:id="rId27"/>
    <p:sldId id="288" r:id="rId28"/>
    <p:sldId id="261" r:id="rId29"/>
    <p:sldId id="290" r:id="rId30"/>
    <p:sldId id="289" r:id="rId31"/>
    <p:sldId id="291" r:id="rId32"/>
  </p:sldIdLst>
  <p:sldSz cx="9144000" cy="6858000" type="screen4x3"/>
  <p:notesSz cx="6781800" cy="99187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1451" y="0"/>
            <a:ext cx="2938780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80294-E48C-4137-A134-9246AE825441}" type="datetimeFigureOut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122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8180" y="4711383"/>
            <a:ext cx="5425440" cy="44634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38780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1451" y="9421044"/>
            <a:ext cx="2938780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0C336-597B-4C1D-AE4D-C99161FBC381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211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EEA9-0B84-4C8E-B246-645145D7A095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A5AE-1E4A-484A-8F8D-410586FD0CB8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00C8-E592-4624-86B1-B9131A2B34D5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0FC23-F6C4-4173-AB77-DA11AB93263B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BC07-BF76-4D47-8865-1B8B71B75861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F08-366E-4D95-A50A-351C5C5238B5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D3A13-436F-4CDE-B2FF-68C590A75577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FEE98-DF2C-48AB-BC32-E82AECB1EEA2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7BB2C-E2BB-4510-A00F-EE511CAB9D95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AF57-1353-43FB-AC82-3DE0475C60EF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2298-3F13-4215-9F33-FE00EEC8AF64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FDB241F-40FA-4BE0-BD81-050332813E9E}" type="datetime1">
              <a:rPr lang="zh-HK" altLang="en-US" smtClean="0"/>
              <a:pPr/>
              <a:t>28/10/2021</a:t>
            </a:fld>
            <a:endParaRPr lang="zh-HK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A77BF74-4D49-4B44-ABF4-339C62A0425C}" type="slidenum">
              <a:rPr lang="zh-HK" altLang="en-US" smtClean="0"/>
              <a:pPr/>
              <a:t>‹#›</a:t>
            </a:fld>
            <a:endParaRPr lang="zh-HK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Introduction to JavaScript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053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Data Types</a:t>
            </a:r>
          </a:p>
          <a:p>
            <a:r>
              <a:rPr lang="en-US" altLang="zh-TW" dirty="0"/>
              <a:t>Type Conversion and Casting</a:t>
            </a:r>
          </a:p>
          <a:p>
            <a:r>
              <a:rPr lang="en-US" altLang="zh-TW" dirty="0"/>
              <a:t>Variables</a:t>
            </a:r>
          </a:p>
          <a:p>
            <a:r>
              <a:rPr lang="en-US" altLang="zh-TW" dirty="0"/>
              <a:t>Arrays</a:t>
            </a:r>
          </a:p>
          <a:p>
            <a:r>
              <a:rPr lang="en-US" altLang="zh-TW" dirty="0"/>
              <a:t>Expression</a:t>
            </a:r>
          </a:p>
          <a:p>
            <a:r>
              <a:rPr lang="en-US" altLang="zh-TW" dirty="0"/>
              <a:t>Operators</a:t>
            </a:r>
          </a:p>
          <a:p>
            <a:r>
              <a:rPr lang="en-US" altLang="zh-TW" dirty="0"/>
              <a:t>Control Flow</a:t>
            </a:r>
          </a:p>
          <a:p>
            <a:pPr lvl="1"/>
            <a:r>
              <a:rPr lang="en-US" altLang="zh-TW" dirty="0"/>
              <a:t>Selection Statements</a:t>
            </a:r>
          </a:p>
          <a:p>
            <a:pPr lvl="1"/>
            <a:r>
              <a:rPr lang="en-US" altLang="zh-TW" dirty="0"/>
              <a:t>Repetition Statements</a:t>
            </a:r>
          </a:p>
          <a:p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</a:t>
            </a:fld>
            <a:endParaRPr lang="zh-HK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Data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In JavaScript, it combine those primitive data type into 3 general types of data:</a:t>
            </a:r>
          </a:p>
          <a:p>
            <a:pPr lvl="1"/>
            <a:r>
              <a:rPr lang="en-US" altLang="zh-TW" dirty="0"/>
              <a:t>Number</a:t>
            </a:r>
          </a:p>
          <a:p>
            <a:pPr lvl="2"/>
            <a:r>
              <a:rPr lang="en-US" altLang="zh-TW" dirty="0"/>
              <a:t>Used to store any type of number data, including integer (e.g. 10) and decimal (e.g. 12.34)</a:t>
            </a:r>
          </a:p>
          <a:p>
            <a:pPr lvl="2"/>
            <a:r>
              <a:rPr lang="en-US" altLang="zh-TW" dirty="0"/>
              <a:t>Used for calculation</a:t>
            </a:r>
          </a:p>
          <a:p>
            <a:pPr lvl="3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price = 18.5;</a:t>
            </a:r>
          </a:p>
          <a:p>
            <a:pPr lvl="1"/>
            <a:r>
              <a:rPr lang="en-US" altLang="zh-TW" dirty="0"/>
              <a:t>String</a:t>
            </a:r>
          </a:p>
          <a:p>
            <a:pPr lvl="2"/>
            <a:r>
              <a:rPr lang="en-US" altLang="zh-TW" dirty="0"/>
              <a:t>Used to store any text information </a:t>
            </a:r>
          </a:p>
          <a:p>
            <a:pPr lvl="2"/>
            <a:r>
              <a:rPr lang="en-US" altLang="zh-TW" dirty="0"/>
              <a:t>Inside single quote (</a:t>
            </a:r>
            <a:r>
              <a:rPr lang="en-US" altLang="zh-TW" dirty="0">
                <a:solidFill>
                  <a:srgbClr val="0070C0"/>
                </a:solidFill>
              </a:rPr>
              <a:t>‘</a:t>
            </a:r>
            <a:r>
              <a:rPr lang="en-US" altLang="zh-TW" dirty="0"/>
              <a:t>) or double </a:t>
            </a:r>
            <a:r>
              <a:rPr lang="en-US" altLang="zh-TW"/>
              <a:t>quote (</a:t>
            </a:r>
            <a:r>
              <a:rPr lang="en-US" altLang="zh-TW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TW"/>
              <a:t>)</a:t>
            </a:r>
            <a:endParaRPr lang="en-US" altLang="zh-TW" dirty="0"/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cname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altLang="zh-TW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HD in SE</a:t>
            </a:r>
            <a:r>
              <a:rPr lang="en-US" altLang="zh-TW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;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altLang="zh-TW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US" altLang="zh-TW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No food!</a:t>
            </a:r>
            <a:r>
              <a:rPr lang="en-US" altLang="zh-TW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said the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guaid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.';</a:t>
            </a:r>
            <a:endParaRPr lang="en-US" altLang="zh-TW" dirty="0"/>
          </a:p>
          <a:p>
            <a:pPr lvl="1"/>
            <a:r>
              <a:rPr lang="en-US" altLang="zh-TW" dirty="0"/>
              <a:t>Boolean</a:t>
            </a:r>
          </a:p>
          <a:p>
            <a:pPr lvl="2"/>
            <a:r>
              <a:rPr lang="en-US" altLang="zh-TW" dirty="0"/>
              <a:t>Used to store </a:t>
            </a:r>
            <a:r>
              <a:rPr lang="en-US" altLang="zh-TW" dirty="0">
                <a:solidFill>
                  <a:srgbClr val="0070C0"/>
                </a:solidFill>
              </a:rPr>
              <a:t>true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0070C0"/>
                </a:solidFill>
              </a:rPr>
              <a:t>false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foundFlag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3</a:t>
            </a:fld>
            <a:endParaRPr lang="zh-HK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 Conversion and 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435280" cy="438912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Converting to a String</a:t>
            </a:r>
          </a:p>
          <a:p>
            <a:r>
              <a:rPr lang="en-US" altLang="zh-TW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altLang="zh-TW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zh-TW" dirty="0"/>
              <a:t> method</a:t>
            </a:r>
          </a:p>
          <a:p>
            <a:pPr lvl="1"/>
            <a:r>
              <a:rPr lang="en-US" altLang="zh-TW" dirty="0"/>
              <a:t>Boolean – outputs the string “true” or “false”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foundFlag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= false;</a:t>
            </a:r>
          </a:p>
          <a:p>
            <a:pPr lvl="3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alert(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foundFlag.toString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());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// outputs "false"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tabLst>
                <a:tab pos="2954338" algn="l"/>
              </a:tabLst>
            </a:pPr>
            <a:r>
              <a:rPr lang="en-US" altLang="zh-TW" dirty="0"/>
              <a:t>Number – outputs the numeric value in an appropriate string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num1 = 20;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num2 = 30.0;</a:t>
            </a:r>
          </a:p>
          <a:p>
            <a:pPr lvl="3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alert(num1.toString());	//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outputs "20"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3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alert(num2.toString()); //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outputs "30"</a:t>
            </a:r>
            <a:endParaRPr lang="zh-TW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4</a:t>
            </a:fld>
            <a:endParaRPr lang="zh-HK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 Conversion and 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dirty="0"/>
              <a:t>Converting to a Number</a:t>
            </a:r>
          </a:p>
          <a:p>
            <a:pPr lvl="1"/>
            <a:r>
              <a:rPr lang="en-US" altLang="zh-TW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altLang="zh-TW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zh-TW" dirty="0"/>
              <a:t> method</a:t>
            </a:r>
          </a:p>
          <a:p>
            <a:pPr lvl="2"/>
            <a:r>
              <a:rPr lang="en-US" altLang="zh-TW" dirty="0"/>
              <a:t>Converts a value into an integer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num1 =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("1234xx");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// returns 1234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num2 =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("0xA");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// returns 10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num3 =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("36.5");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// returns 36</a:t>
            </a:r>
          </a:p>
          <a:p>
            <a:pPr lvl="1">
              <a:tabLst>
                <a:tab pos="2954338" algn="l"/>
              </a:tabLst>
            </a:pPr>
            <a:r>
              <a:rPr lang="en-US" altLang="zh-TW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en-US" altLang="zh-TW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zh-TW" dirty="0"/>
              <a:t> method</a:t>
            </a:r>
          </a:p>
          <a:p>
            <a:pPr lvl="2">
              <a:tabLst>
                <a:tab pos="2954338" algn="l"/>
              </a:tabLst>
            </a:pPr>
            <a:r>
              <a:rPr lang="en-US" altLang="zh-TW" dirty="0"/>
              <a:t>Converts a value into a floating-point number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num1 =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("1234xx");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// returns 1234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num2 =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("36.5");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// returns 36.5</a:t>
            </a:r>
          </a:p>
          <a:p>
            <a:pPr lvl="3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num3 = </a:t>
            </a:r>
            <a:r>
              <a:rPr lang="en-US" altLang="zh-TW" err="1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("ABC10"); 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// returns 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NaN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5</a:t>
            </a:fld>
            <a:endParaRPr lang="zh-HK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 Conversion and 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Casting to Boolean</a:t>
            </a:r>
          </a:p>
          <a:p>
            <a:pPr lvl="1"/>
            <a:r>
              <a:rPr lang="en-US" altLang="zh-TW" dirty="0"/>
              <a:t>Returns </a:t>
            </a:r>
            <a:r>
              <a:rPr lang="en-US" altLang="zh-TW" dirty="0">
                <a:solidFill>
                  <a:srgbClr val="0070C0"/>
                </a:solidFill>
              </a:rPr>
              <a:t>true</a:t>
            </a:r>
            <a:r>
              <a:rPr lang="en-US" altLang="zh-TW" dirty="0"/>
              <a:t> when the value is: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A string with at least one character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A number other than 0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An object</a:t>
            </a:r>
          </a:p>
          <a:p>
            <a:pPr lvl="1"/>
            <a:r>
              <a:rPr lang="en-US" altLang="zh-TW" dirty="0"/>
              <a:t>Returns </a:t>
            </a:r>
            <a:r>
              <a:rPr lang="en-US" altLang="zh-TW" dirty="0">
                <a:solidFill>
                  <a:srgbClr val="0070C0"/>
                </a:solidFill>
              </a:rPr>
              <a:t>false</a:t>
            </a:r>
            <a:r>
              <a:rPr lang="en-US" altLang="zh-TW" dirty="0"/>
              <a:t> when the value is: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An empty string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The number 0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Undefined</a:t>
            </a:r>
          </a:p>
          <a:p>
            <a:pPr marL="1124712" lvl="2" indent="-457200">
              <a:buFont typeface="+mj-lt"/>
              <a:buAutoNum type="arabicPeriod"/>
            </a:pPr>
            <a:r>
              <a:rPr lang="en-US" altLang="zh-TW" dirty="0"/>
              <a:t>Null</a:t>
            </a:r>
          </a:p>
          <a:p>
            <a:pPr marL="625475" lvl="1" indent="-233363"/>
            <a:r>
              <a:rPr lang="en-US" altLang="zh-TW" dirty="0"/>
              <a:t>Example</a:t>
            </a:r>
          </a:p>
          <a:p>
            <a:pPr marL="1124712" lvl="2" indent="-457200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 b1 = Boolean("");              //false -- empty string</a:t>
            </a:r>
          </a:p>
          <a:p>
            <a:pPr marL="1124712" lvl="2" indent="-457200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 b2 = Boolean("JavaScript");    //true -- non-empty string</a:t>
            </a:r>
          </a:p>
          <a:p>
            <a:pPr marL="1124712" lvl="2" indent="-457200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 b3 = Boolean(100);             //true -- non-zero number</a:t>
            </a:r>
          </a:p>
          <a:p>
            <a:pPr marL="1124712" lvl="2" indent="-457200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 b4 = Boolean(null);            //false -- null</a:t>
            </a:r>
          </a:p>
          <a:p>
            <a:pPr marL="1124712" lvl="2" indent="-457200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 b5 = Boolean(0);               //false -- zero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6</a:t>
            </a:fld>
            <a:endParaRPr lang="zh-HK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Type Conversion and 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Casting to Number</a:t>
            </a:r>
          </a:p>
          <a:p>
            <a:endParaRPr lang="en-US" altLang="zh-TW" sz="2400" dirty="0"/>
          </a:p>
          <a:p>
            <a:endParaRPr lang="en-US" altLang="zh-TW" sz="2400" dirty="0"/>
          </a:p>
          <a:p>
            <a:pPr>
              <a:buNone/>
            </a:pPr>
            <a:endParaRPr lang="en-US" altLang="zh-TW" sz="2400" dirty="0"/>
          </a:p>
          <a:p>
            <a:pPr>
              <a:buNone/>
            </a:pPr>
            <a:endParaRPr lang="en-US" altLang="zh-TW" sz="2400" dirty="0"/>
          </a:p>
          <a:p>
            <a:pPr>
              <a:buNone/>
            </a:pPr>
            <a:endParaRPr lang="en-US" altLang="zh-TW" sz="2400" dirty="0"/>
          </a:p>
          <a:p>
            <a:r>
              <a:rPr lang="en-US" altLang="zh-TW" sz="2400" dirty="0"/>
              <a:t>Casting to String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132332"/>
              </p:ext>
            </p:extLst>
          </p:nvPr>
        </p:nvGraphicFramePr>
        <p:xfrm>
          <a:off x="827584" y="2400720"/>
          <a:ext cx="6096000" cy="185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3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Usage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Result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Number(false)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Number(true)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Number("1234xx")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NaN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Number("0xA")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3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Number(36.5)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36.5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27584" y="5042912"/>
          <a:ext cx="6096000" cy="155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5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Usage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Result</a:t>
                      </a:r>
                      <a:endParaRPr kumimoji="0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String(false)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false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String(true)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true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String(1234)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1234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String(null)</a:t>
                      </a:r>
                    </a:p>
                  </a:txBody>
                  <a:tcPr marT="45716" marB="45716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null</a:t>
                      </a:r>
                    </a:p>
                  </a:txBody>
                  <a:tcPr marT="45716" marB="45716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7</a:t>
            </a:fld>
            <a:endParaRPr lang="zh-HK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Each variable has a name</a:t>
            </a:r>
          </a:p>
          <a:p>
            <a:r>
              <a:rPr lang="en-US" altLang="zh-TW" dirty="0"/>
              <a:t>Sequence of characters that consist of </a:t>
            </a:r>
          </a:p>
          <a:p>
            <a:pPr lvl="1"/>
            <a:r>
              <a:rPr lang="en-US" altLang="zh-TW" dirty="0"/>
              <a:t>Letters, digits, underscores </a:t>
            </a:r>
            <a:r>
              <a:rPr lang="en-US" altLang="zh-TW" dirty="0">
                <a:solidFill>
                  <a:srgbClr val="0070C0"/>
                </a:solidFill>
              </a:rPr>
              <a:t>_</a:t>
            </a:r>
            <a:r>
              <a:rPr lang="en-US" altLang="zh-TW" dirty="0"/>
              <a:t>, and dollar sign </a:t>
            </a:r>
            <a:r>
              <a:rPr lang="en-US" altLang="zh-TW" dirty="0">
                <a:solidFill>
                  <a:srgbClr val="0070C0"/>
                </a:solidFill>
              </a:rPr>
              <a:t>$</a:t>
            </a:r>
          </a:p>
          <a:p>
            <a:pPr lvl="1"/>
            <a:r>
              <a:rPr lang="en-US" altLang="zh-TW" dirty="0"/>
              <a:t>Must start with </a:t>
            </a:r>
            <a:r>
              <a:rPr lang="en-US" altLang="zh-TW" dirty="0">
                <a:solidFill>
                  <a:srgbClr val="0070C0"/>
                </a:solidFill>
              </a:rPr>
              <a:t>letter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70C0"/>
                </a:solidFill>
              </a:rPr>
              <a:t>_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0070C0"/>
                </a:solidFill>
              </a:rPr>
              <a:t>$</a:t>
            </a:r>
          </a:p>
          <a:p>
            <a:pPr lvl="1"/>
            <a:r>
              <a:rPr lang="en-US" altLang="zh-TW" dirty="0"/>
              <a:t>Case sensitive</a:t>
            </a:r>
          </a:p>
          <a:p>
            <a:pPr lvl="1"/>
            <a:r>
              <a:rPr lang="en-US" altLang="zh-TW" dirty="0"/>
              <a:t>CANNOT be a </a:t>
            </a:r>
            <a:r>
              <a:rPr lang="en-US" altLang="zh-TW" dirty="0">
                <a:solidFill>
                  <a:srgbClr val="0070C0"/>
                </a:solidFill>
              </a:rPr>
              <a:t>reserved word</a:t>
            </a:r>
          </a:p>
          <a:p>
            <a:pPr lvl="2"/>
            <a:r>
              <a:rPr lang="en-US" altLang="zh-TW" i="1" dirty="0"/>
              <a:t>true, false, null, if, for, …</a:t>
            </a:r>
            <a:endParaRPr lang="en-US" altLang="zh-TW" dirty="0"/>
          </a:p>
          <a:p>
            <a:r>
              <a:rPr lang="en-US" altLang="zh-TW" dirty="0"/>
              <a:t>Declare with the </a:t>
            </a:r>
            <a:r>
              <a:rPr lang="en-US" altLang="zh-TW" dirty="0" err="1"/>
              <a:t>var</a:t>
            </a:r>
            <a:endParaRPr lang="en-US" altLang="zh-TW" dirty="0"/>
          </a:p>
          <a:p>
            <a:pPr lvl="1">
              <a:buNone/>
            </a:pPr>
            <a:r>
              <a:rPr lang="en-US" altLang="zh-TW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 x; // have no value</a:t>
            </a:r>
          </a:p>
          <a:p>
            <a:pPr lvl="1">
              <a:buNone/>
            </a:pPr>
            <a:r>
              <a:rPr lang="en-US" altLang="zh-TW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1800" dirty="0" err="1">
                <a:latin typeface="Courier New" pitchFamily="49" charset="0"/>
                <a:cs typeface="Courier New" pitchFamily="49" charset="0"/>
              </a:rPr>
              <a:t>cname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1800">
                <a:latin typeface="Courier New" pitchFamily="49" charset="0"/>
                <a:cs typeface="Courier New" pitchFamily="49" charset="0"/>
              </a:rPr>
              <a:t>= "HD in SE"; 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// assign values when declare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8</a:t>
            </a:fld>
            <a:endParaRPr lang="zh-HK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Get the data type of a variable</a:t>
            </a:r>
          </a:p>
          <a:p>
            <a:r>
              <a:rPr lang="en-US" altLang="zh-TW" dirty="0"/>
              <a:t>Use </a:t>
            </a:r>
            <a:r>
              <a:rPr lang="en-US" altLang="zh-TW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typeof</a:t>
            </a:r>
            <a:endParaRPr lang="en-US" altLang="zh-TW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altLang="zh-TW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33607" t="40079" r="8832" b="4289"/>
          <a:stretch>
            <a:fillRect/>
          </a:stretch>
        </p:blipFill>
        <p:spPr bwMode="auto">
          <a:xfrm>
            <a:off x="899592" y="3068960"/>
            <a:ext cx="5781492" cy="244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9</a:t>
            </a:fld>
            <a:endParaRPr lang="zh-HK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Arrays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dirty="0"/>
              <a:t>A special variable that is used to store a list of values</a:t>
            </a:r>
          </a:p>
          <a:p>
            <a:r>
              <a:rPr lang="en-US" altLang="zh-TW" dirty="0"/>
              <a:t>Usually made out of a contiguous block of memory that is divided into a number of </a:t>
            </a:r>
            <a:r>
              <a:rPr lang="en-US" altLang="zh-TW" dirty="0">
                <a:solidFill>
                  <a:srgbClr val="00B0F0"/>
                </a:solidFill>
              </a:rPr>
              <a:t>slots</a:t>
            </a:r>
          </a:p>
          <a:p>
            <a:pPr lvl="1"/>
            <a:r>
              <a:rPr lang="en-US" altLang="zh-TW" dirty="0"/>
              <a:t>Each slot holds a value</a:t>
            </a:r>
          </a:p>
          <a:p>
            <a:pPr lvl="1"/>
            <a:r>
              <a:rPr lang="en-US" altLang="zh-TW" dirty="0"/>
              <a:t>All slots are in the same data type</a:t>
            </a:r>
          </a:p>
          <a:p>
            <a:pPr lvl="1"/>
            <a:r>
              <a:rPr lang="en-US" altLang="zh-TW" dirty="0"/>
              <a:t>Slots are numbered sequentially starting at </a:t>
            </a:r>
            <a:r>
              <a:rPr lang="en-US" altLang="zh-TW" dirty="0">
                <a:solidFill>
                  <a:srgbClr val="00B0F0"/>
                </a:solidFill>
              </a:rPr>
              <a:t>ZERO</a:t>
            </a:r>
          </a:p>
          <a:p>
            <a:r>
              <a:rPr lang="en-US" altLang="zh-TW" dirty="0"/>
              <a:t>Declaration</a:t>
            </a:r>
          </a:p>
          <a:p>
            <a:pPr lvl="1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courses = new Array();</a:t>
            </a:r>
          </a:p>
          <a:p>
            <a:r>
              <a:rPr lang="en-US" altLang="zh-TW" dirty="0"/>
              <a:t>Initialization</a:t>
            </a:r>
          </a:p>
          <a:p>
            <a:pPr lvl="1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courses[0]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= "HD in CSA";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courses[1]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= "HD in SE";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Courses[2]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= "HD in CDCA";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TW" dirty="0"/>
              <a:t>Or (condensed array)</a:t>
            </a:r>
          </a:p>
          <a:p>
            <a:pPr lvl="1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courses = new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Array("HD in CSA", "HD in SE", 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altLang="zh-TW">
                <a:latin typeface="Courier New" pitchFamily="49" charset="0"/>
                <a:cs typeface="Courier New" pitchFamily="49" charset="0"/>
              </a:rPr>
              <a:t>                        "HD in CDCA");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TW" dirty="0"/>
              <a:t>Or (literal array)</a:t>
            </a:r>
          </a:p>
          <a:p>
            <a:pPr lvl="1">
              <a:buNone/>
            </a:pP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courses </a:t>
            </a:r>
            <a:r>
              <a:rPr lang="en-US" altLang="zh-TW">
                <a:latin typeface="Courier New" pitchFamily="49" charset="0"/>
                <a:cs typeface="Courier New" pitchFamily="49" charset="0"/>
              </a:rPr>
              <a:t>= ["HD in CSA", "HD in SE", "HD in CDCA"];</a:t>
            </a: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10</a:t>
            </a:fld>
            <a:endParaRPr lang="zh-HK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Expressions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Combination of literals, operators, variables, and parentheses used to calculate a value</a:t>
            </a:r>
          </a:p>
          <a:p>
            <a:r>
              <a:rPr lang="en-US" altLang="zh-TW" dirty="0"/>
              <a:t>Rule for correct JavaScript expressions are about the same as for algebra</a:t>
            </a:r>
          </a:p>
          <a:p>
            <a:r>
              <a:rPr lang="en-US" altLang="zh-TW" dirty="0"/>
              <a:t>E.g.</a:t>
            </a:r>
          </a:p>
          <a:p>
            <a:pPr lvl="1"/>
            <a:r>
              <a:rPr lang="en-US" altLang="zh-TW" dirty="0"/>
              <a:t>1 +2</a:t>
            </a:r>
          </a:p>
          <a:p>
            <a:pPr lvl="1"/>
            <a:r>
              <a:rPr lang="en-US" altLang="zh-TW" dirty="0"/>
              <a:t>a + b * (3 – c) / 5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11</a:t>
            </a:fld>
            <a:endParaRPr lang="zh-HK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Arithmetic Operators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Precedence</a:t>
            </a:r>
          </a:p>
          <a:p>
            <a:pPr lvl="1"/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* / or %</a:t>
            </a:r>
          </a:p>
          <a:p>
            <a:pPr lvl="1"/>
            <a:r>
              <a:rPr lang="en-US" altLang="zh-TW" dirty="0"/>
              <a:t>+ or -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2264" y="2276872"/>
          <a:ext cx="60960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45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Operator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Example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5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+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Addition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y + 2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5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-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Subtraction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y</a:t>
                      </a:r>
                      <a:r>
                        <a:rPr lang="en-US" altLang="zh-TW" sz="1400" baseline="0" dirty="0">
                          <a:latin typeface="Courier New" pitchFamily="49" charset="0"/>
                          <a:cs typeface="Courier New" pitchFamily="49" charset="0"/>
                        </a:rPr>
                        <a:t> – 2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45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*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Multiplication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y * 2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45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/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Division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y / 2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45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%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Modulus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y % 2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773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++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Increment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++y</a:t>
                      </a:r>
                    </a:p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altLang="zh-TW" sz="1400" baseline="0" dirty="0">
                          <a:latin typeface="Courier New" pitchFamily="49" charset="0"/>
                          <a:cs typeface="Courier New" pitchFamily="49" charset="0"/>
                        </a:rPr>
                        <a:t> = y++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773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--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Decrement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 = --y</a:t>
                      </a:r>
                    </a:p>
                    <a:p>
                      <a:r>
                        <a:rPr lang="en-US" altLang="zh-TW" sz="1400" dirty="0">
                          <a:latin typeface="Courier New" pitchFamily="49" charset="0"/>
                          <a:cs typeface="Courier New" pitchFamily="49" charset="0"/>
                        </a:rPr>
                        <a:t>x</a:t>
                      </a:r>
                      <a:r>
                        <a:rPr lang="en-US" altLang="zh-TW" sz="1400" baseline="0" dirty="0">
                          <a:latin typeface="Courier New" pitchFamily="49" charset="0"/>
                          <a:cs typeface="Courier New" pitchFamily="49" charset="0"/>
                        </a:rPr>
                        <a:t> = y--</a:t>
                      </a:r>
                      <a:endParaRPr lang="zh-TW" altLang="en-US" sz="1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12</a:t>
            </a:fld>
            <a:endParaRPr lang="zh-HK" altLang="en-US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6200" y="76200"/>
            <a:ext cx="6934200" cy="670560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&lt;?xml version =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"1.0"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?&gt;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&lt;!DOCTYPE html PUBLIC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"-//W3C//DTD XHTML 1.0 Strict//EN"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"http://www.w3.org/TR/xhtml1/DTD/xhtml1-strict.dtd"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&lt;!-- Addition.html --&gt;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&lt;html </a:t>
            </a:r>
            <a:r>
              <a:rPr lang="en-US" altLang="zh-TW" sz="1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"http://www.w3.org/1999/xhtml"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&lt;head&gt;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&lt;title&gt;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An Addition Program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&lt;/title&gt;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&lt;script type =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"text/</a:t>
            </a:r>
            <a:r>
              <a:rPr lang="en-US" altLang="zh-TW" sz="1200" b="1" dirty="0" err="1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firstNumber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first string entered by user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secondNumber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second string entered by user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number1,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first number to add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number2,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second number to add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sum;    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sum of number1 and number2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read in first number from user as a string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firstNumber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window.prompt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"Enter first integer"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"0"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read in second number from user as a string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secondNumber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window.prompt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"Enter second integer"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"0"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convert numbers from strings to integers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number1 =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firstNumber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);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number2 =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secondNumber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add the numbers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sum = number1 + number2;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en-US" altLang="zh-TW" sz="12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536825" y="1223963"/>
            <a:ext cx="6607175" cy="2674937"/>
            <a:chOff x="1694" y="963"/>
            <a:chExt cx="4162" cy="1646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3120" y="963"/>
              <a:ext cx="2736" cy="40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The </a:t>
              </a:r>
              <a:r>
                <a:rPr lang="en-US" altLang="zh-TW" sz="1200" b="1">
                  <a:latin typeface="Courier New" pitchFamily="49" charset="0"/>
                  <a:cs typeface="Courier New" pitchFamily="49" charset="0"/>
                </a:rPr>
                <a:t>window</a:t>
              </a:r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 method </a:t>
              </a:r>
              <a:r>
                <a:rPr lang="en-US" altLang="zh-TW" sz="1200" b="1">
                  <a:latin typeface="Courier New" pitchFamily="49" charset="0"/>
                  <a:cs typeface="Courier New" pitchFamily="49" charset="0"/>
                </a:rPr>
                <a:t>prompt</a:t>
              </a:r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 displays a prompt dialog in the browser with a message and a text field for input.</a:t>
              </a: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 flipH="1">
              <a:off x="1694" y="1166"/>
              <a:ext cx="1426" cy="1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8" name="Group 11"/>
          <p:cNvGrpSpPr>
            <a:grpSpLocks/>
          </p:cNvGrpSpPr>
          <p:nvPr/>
        </p:nvGrpSpPr>
        <p:grpSpPr bwMode="auto">
          <a:xfrm>
            <a:off x="4022725" y="2743200"/>
            <a:ext cx="4283075" cy="1081088"/>
            <a:chOff x="2300" y="1927"/>
            <a:chExt cx="2698" cy="665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541" y="1927"/>
              <a:ext cx="2457" cy="29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The first argument passed to method </a:t>
              </a:r>
              <a:r>
                <a:rPr lang="en-US" altLang="zh-TW" sz="1200" b="1">
                  <a:latin typeface="Courier New" pitchFamily="49" charset="0"/>
                  <a:cs typeface="Courier New" pitchFamily="49" charset="0"/>
                </a:rPr>
                <a:t>prompt</a:t>
              </a:r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 is the message to be displayed.</a:t>
              </a: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2300" y="2126"/>
              <a:ext cx="237" cy="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5334000" y="3429000"/>
            <a:ext cx="3810000" cy="661988"/>
            <a:chOff x="3121" y="2348"/>
            <a:chExt cx="2400" cy="407"/>
          </a:xfrm>
        </p:grpSpPr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666" y="2348"/>
              <a:ext cx="1855" cy="40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The second argument is the default value for the text field.</a:t>
              </a: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3121" y="2552"/>
              <a:ext cx="545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2601913" y="4816475"/>
            <a:ext cx="6564312" cy="571500"/>
            <a:chOff x="1607" y="3057"/>
            <a:chExt cx="4135" cy="351"/>
          </a:xfrm>
        </p:grpSpPr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951" y="3057"/>
              <a:ext cx="2791" cy="29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Function </a:t>
              </a:r>
              <a:r>
                <a:rPr lang="en-US" altLang="zh-TW" sz="1200" b="1">
                  <a:latin typeface="Courier New" pitchFamily="49" charset="0"/>
                  <a:cs typeface="Courier New" pitchFamily="49" charset="0"/>
                </a:rPr>
                <a:t>parseInt</a:t>
              </a:r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 converts its string argument to an integer.</a:t>
              </a: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1607" y="3182"/>
              <a:ext cx="1344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grpSp>
        <p:nvGrpSpPr>
          <p:cNvPr id="17" name="Group 18"/>
          <p:cNvGrpSpPr>
            <a:grpSpLocks/>
          </p:cNvGrpSpPr>
          <p:nvPr/>
        </p:nvGrpSpPr>
        <p:grpSpPr bwMode="auto">
          <a:xfrm>
            <a:off x="2643188" y="5867400"/>
            <a:ext cx="6272212" cy="473075"/>
            <a:chOff x="1424" y="3646"/>
            <a:chExt cx="3951" cy="291"/>
          </a:xfrm>
        </p:grpSpPr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372" y="3646"/>
              <a:ext cx="3003" cy="29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The </a:t>
              </a:r>
              <a:r>
                <a:rPr lang="en-US" altLang="zh-TW" sz="1200" b="1">
                  <a:latin typeface="Courier New" pitchFamily="49" charset="0"/>
                  <a:cs typeface="Courier New" pitchFamily="49" charset="0"/>
                </a:rPr>
                <a:t>+</a:t>
              </a:r>
              <a:r>
                <a:rPr lang="en-US" altLang="zh-TW" sz="1200">
                  <a:latin typeface="Courier New" pitchFamily="49" charset="0"/>
                  <a:cs typeface="Courier New" pitchFamily="49" charset="0"/>
                </a:rPr>
                <a:t> operator adds the two numbers input by the user.</a:t>
              </a: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>
              <a:off x="1424" y="3739"/>
              <a:ext cx="948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TW" altLang="en-US"/>
            </a:p>
          </p:txBody>
        </p:sp>
      </p:grpSp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13</a:t>
            </a:fld>
            <a:endParaRPr lang="zh-HK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086600" y="838200"/>
            <a:ext cx="2057400" cy="5486400"/>
          </a:xfrm>
          <a:prstGeom prst="rect">
            <a:avLst/>
          </a:prstGeo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defRPr/>
            </a:pPr>
            <a: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Addition.html</a:t>
            </a:r>
            <a:b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</a:br>
            <a:b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</a:br>
            <a:b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</a:br>
            <a:b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</a:br>
            <a:b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</a:br>
            <a:b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</a:br>
            <a:r>
              <a:rPr lang="en-US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Program Output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0488" y="152400"/>
            <a:ext cx="6934200" cy="2024063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display the results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zh-TW" sz="1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"&lt;h1&gt;The sum is "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+ sum + </a:t>
            </a:r>
            <a:r>
              <a:rPr lang="en-US" altLang="zh-TW" sz="1200" b="1" dirty="0">
                <a:solidFill>
                  <a:srgbClr val="0099FF"/>
                </a:solidFill>
                <a:latin typeface="Courier New" pitchFamily="49" charset="0"/>
                <a:cs typeface="Courier New" pitchFamily="49" charset="0"/>
              </a:rPr>
              <a:t>"&lt;/h1&gt;"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&lt;/script&gt;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&lt;/head&gt;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&lt;body&gt;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&lt;p&gt;</a:t>
            </a:r>
            <a:r>
              <a:rPr lang="en-US" altLang="zh-TW" sz="12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Click Refresh (or Reload) to run the script again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&lt;/p&gt;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&lt;/body&gt;</a:t>
            </a:r>
            <a:endParaRPr lang="en-US" altLang="zh-TW" sz="12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TW" sz="1200" b="1" dirty="0">
                <a:solidFill>
                  <a:srgbClr val="5F5F5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&lt;/html&gt;</a:t>
            </a:r>
          </a:p>
        </p:txBody>
      </p:sp>
      <p:pic>
        <p:nvPicPr>
          <p:cNvPr id="6" name="Picture 4" descr="C:\Documents and Settings\josh\Desktop\pete\ch7imagesP\06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8" y="2286000"/>
            <a:ext cx="4648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C:\Documents and Settings\josh\Desktop\pete\ch7imagesP\06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3488" y="3505200"/>
            <a:ext cx="4648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 descr="C:\Documents and Settings\josh\Desktop\pete\ch7imagesP\06c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6138" y="4733925"/>
            <a:ext cx="5422900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14</a:t>
            </a:fld>
            <a:endParaRPr lang="zh-HK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/>
              <a:t>Assignment Operators</a:t>
            </a:r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r>
              <a:rPr lang="en-US" altLang="zh-TW" sz="1800" dirty="0"/>
              <a:t>Comparison Operators</a:t>
            </a:r>
          </a:p>
          <a:p>
            <a:endParaRPr lang="en-US" altLang="zh-TW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2264" y="2276873"/>
          <a:ext cx="400776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Operator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Example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=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= y 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+=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+= y</a:t>
                      </a:r>
                      <a:r>
                        <a:rPr lang="en-US" altLang="zh-TW" sz="1200" baseline="0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-=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-= y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*=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*= y 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/=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/= y 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%=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%=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27584" y="4581128"/>
          <a:ext cx="609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304"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Operator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Description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Example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37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==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Is</a:t>
                      </a:r>
                      <a:r>
                        <a:rPr lang="en-US" altLang="zh-TW" sz="1200" baseline="0" dirty="0"/>
                        <a:t> equal to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== 8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37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!=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Is not equal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baseline="0" dirty="0">
                          <a:latin typeface="Courier New" pitchFamily="49" charset="0"/>
                          <a:cs typeface="Courier New" pitchFamily="49" charset="0"/>
                        </a:rPr>
                        <a:t>x != 8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37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&gt;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Is greater than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&gt; 8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37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&lt;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Is less</a:t>
                      </a:r>
                      <a:r>
                        <a:rPr lang="en-US" altLang="zh-TW" sz="1200" baseline="0" dirty="0"/>
                        <a:t> than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&lt; 8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37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&gt;=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Is greater than or equal to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&gt;=</a:t>
                      </a:r>
                      <a:r>
                        <a:rPr lang="en-US" altLang="zh-TW" sz="1200" baseline="0" dirty="0">
                          <a:latin typeface="Courier New" pitchFamily="49" charset="0"/>
                          <a:cs typeface="Courier New" pitchFamily="49" charset="0"/>
                        </a:rPr>
                        <a:t> 8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37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&lt;=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Is less than or equal to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Courier New" pitchFamily="49" charset="0"/>
                          <a:cs typeface="Courier New" pitchFamily="49" charset="0"/>
                        </a:rPr>
                        <a:t>x &lt;= 8</a:t>
                      </a:r>
                      <a:endParaRPr lang="zh-TW" altLang="en-US" sz="12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15</a:t>
            </a:fld>
            <a:endParaRPr lang="zh-HK" altLang="en-US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Logical Operators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Conditional Operators</a:t>
            </a:r>
          </a:p>
          <a:p>
            <a:pPr lvl="1"/>
            <a:r>
              <a:rPr lang="en-US" altLang="zh-TW" dirty="0"/>
              <a:t>Assigns a value to a variable based on some condition</a:t>
            </a:r>
          </a:p>
          <a:p>
            <a:pPr lvl="2">
              <a:buNone/>
            </a:pPr>
            <a:r>
              <a:rPr lang="en-US" altLang="zh-TW" i="1" dirty="0" err="1">
                <a:latin typeface="Courier New" pitchFamily="49" charset="0"/>
                <a:cs typeface="Courier New" pitchFamily="49" charset="0"/>
              </a:rPr>
              <a:t>variableName</a:t>
            </a:r>
            <a:r>
              <a:rPr lang="en-US" altLang="zh-TW" i="1" dirty="0">
                <a:latin typeface="Courier New" pitchFamily="49" charset="0"/>
                <a:cs typeface="Courier New" pitchFamily="49" charset="0"/>
              </a:rPr>
              <a:t> = (condition) ? value1: value2; </a:t>
            </a:r>
            <a:endParaRPr lang="zh-TW" altLang="en-US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99592" y="2492896"/>
          <a:ext cx="7200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9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Operator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Example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ourier New" pitchFamily="49" charset="0"/>
                          <a:cs typeface="Courier New" pitchFamily="49" charset="0"/>
                        </a:rPr>
                        <a:t>&amp;&amp;</a:t>
                      </a:r>
                      <a:endParaRPr lang="zh-TW" alt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ourier New" pitchFamily="49" charset="0"/>
                          <a:cs typeface="Courier New" pitchFamily="49" charset="0"/>
                        </a:rPr>
                        <a:t>(x&lt;10</a:t>
                      </a:r>
                      <a:r>
                        <a:rPr lang="en-US" altLang="zh-TW" baseline="0" dirty="0">
                          <a:latin typeface="Courier New" pitchFamily="49" charset="0"/>
                          <a:cs typeface="Courier New" pitchFamily="49" charset="0"/>
                        </a:rPr>
                        <a:t> &amp;&amp; y&gt;1)</a:t>
                      </a:r>
                      <a:endParaRPr lang="zh-TW" alt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||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ourier New" pitchFamily="49" charset="0"/>
                          <a:cs typeface="Courier New" pitchFamily="49" charset="0"/>
                        </a:rPr>
                        <a:t>(x==5 || y==5)</a:t>
                      </a:r>
                      <a:endParaRPr lang="zh-TW" alt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ourier New" pitchFamily="49" charset="0"/>
                          <a:cs typeface="Courier New" pitchFamily="49" charset="0"/>
                        </a:rPr>
                        <a:t>!</a:t>
                      </a:r>
                      <a:endParaRPr lang="zh-TW" alt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Courier New" pitchFamily="49" charset="0"/>
                          <a:cs typeface="Courier New" pitchFamily="49" charset="0"/>
                        </a:rPr>
                        <a:t>!(x==y)</a:t>
                      </a:r>
                      <a:endParaRPr lang="zh-TW" alt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16</a:t>
            </a:fld>
            <a:endParaRPr lang="zh-HK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Selection Statements</a:t>
            </a:r>
          </a:p>
          <a:p>
            <a:pPr lvl="1"/>
            <a:r>
              <a:rPr lang="en-US" altLang="zh-TW" dirty="0"/>
              <a:t>if</a:t>
            </a:r>
          </a:p>
          <a:p>
            <a:pPr lvl="1"/>
            <a:r>
              <a:rPr lang="en-US" altLang="zh-TW" dirty="0"/>
              <a:t>if-else</a:t>
            </a:r>
          </a:p>
          <a:p>
            <a:pPr lvl="1"/>
            <a:r>
              <a:rPr lang="en-US" altLang="zh-TW" dirty="0"/>
              <a:t>if…else if…else</a:t>
            </a:r>
          </a:p>
          <a:p>
            <a:pPr lvl="1"/>
            <a:r>
              <a:rPr lang="en-US" altLang="zh-TW" dirty="0"/>
              <a:t>switch-case</a:t>
            </a:r>
          </a:p>
          <a:p>
            <a:r>
              <a:rPr lang="en-US" altLang="zh-TW" dirty="0"/>
              <a:t>Repetition (Looping) Statements</a:t>
            </a:r>
          </a:p>
          <a:p>
            <a:pPr lvl="1"/>
            <a:r>
              <a:rPr lang="en-US" altLang="zh-TW" dirty="0"/>
              <a:t>for</a:t>
            </a:r>
          </a:p>
          <a:p>
            <a:pPr lvl="1"/>
            <a:r>
              <a:rPr lang="en-US" altLang="zh-TW" dirty="0"/>
              <a:t>for…in</a:t>
            </a:r>
          </a:p>
          <a:p>
            <a:pPr lvl="1"/>
            <a:r>
              <a:rPr lang="en-US" altLang="zh-TW" dirty="0"/>
              <a:t>while</a:t>
            </a:r>
          </a:p>
          <a:p>
            <a:pPr lvl="1"/>
            <a:r>
              <a:rPr lang="en-US" altLang="zh-TW" dirty="0"/>
              <a:t>do…while</a:t>
            </a:r>
          </a:p>
          <a:p>
            <a:pPr lvl="1"/>
            <a:r>
              <a:rPr lang="en-US" altLang="zh-TW" dirty="0"/>
              <a:t>break</a:t>
            </a:r>
          </a:p>
          <a:p>
            <a:pPr lvl="1"/>
            <a:r>
              <a:rPr lang="en-US" altLang="zh-TW" dirty="0"/>
              <a:t>continue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17</a:t>
            </a:fld>
            <a:endParaRPr lang="zh-HK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if</a:t>
            </a:r>
          </a:p>
          <a:p>
            <a:pPr lvl="1"/>
            <a:r>
              <a:rPr lang="en-US" altLang="zh-TW" dirty="0"/>
              <a:t>Execute some code only if a specified condition is true</a:t>
            </a:r>
          </a:p>
          <a:p>
            <a:pPr lvl="2">
              <a:buFont typeface="Wingdings" pitchFamily="2" charset="2"/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altLang="zh-TW" i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2">
              <a:buFont typeface="Wingdings" pitchFamily="2" charset="2"/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i="1" dirty="0">
                <a:latin typeface="Courier New" pitchFamily="49" charset="0"/>
                <a:cs typeface="Courier New" pitchFamily="49" charset="0"/>
              </a:rPr>
              <a:t>statement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Font typeface="Wingdings" pitchFamily="2" charset="2"/>
              <a:buNone/>
            </a:pPr>
            <a:r>
              <a:rPr lang="en-US" altLang="zh-TW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altLang="zh-TW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zh-TW" altLang="en-US" dirty="0"/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151731" y="4149080"/>
            <a:ext cx="6840538" cy="17541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&lt;script type="text/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t = new Date().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getHours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 (t &lt; 10) {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TW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("&lt;b&gt;Good morning&lt;/b&gt;");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18</a:t>
            </a:fld>
            <a:endParaRPr lang="zh-HK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if-else</a:t>
            </a:r>
          </a:p>
          <a:p>
            <a:pPr lvl="1"/>
            <a:r>
              <a:rPr lang="en-US" altLang="zh-TW" dirty="0"/>
              <a:t>Execute some code if the condition is true and another code if the condition is false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statement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statement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>
              <a:buNone/>
            </a:pPr>
            <a:endParaRPr lang="en-US" altLang="zh-TW" dirty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3059832" y="4005064"/>
            <a:ext cx="5903913" cy="25860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&lt;script type="text/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t = new Date().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getHours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n-US" altLang="zh-TW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(t &lt; 10) {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("&lt;b&gt;Good morning&lt;/b&gt;");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("&lt;b&gt;Good day&lt;/b&gt;");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19</a:t>
            </a:fld>
            <a:endParaRPr lang="zh-HK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if…else if…else</a:t>
            </a:r>
          </a:p>
          <a:p>
            <a:pPr lvl="1"/>
            <a:r>
              <a:rPr lang="en-US" altLang="zh-TW" dirty="0"/>
              <a:t>Select one of many blocks of code to be executed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statement;</a:t>
            </a:r>
            <a:endParaRPr lang="en-US" altLang="zh-TW" sz="1800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altLang="zh-TW" sz="1800" dirty="0" err="1"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 statement; 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} else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 statement;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zh-TW" sz="1800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altLang="zh-TW" dirty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3131840" y="4005064"/>
            <a:ext cx="5688632" cy="2616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1600" b="1">
                <a:latin typeface="Courier New" pitchFamily="49" charset="0"/>
                <a:cs typeface="Courier New" pitchFamily="49" charset="0"/>
              </a:rPr>
              <a:t>&lt;script type="text/javascript"&gt;</a:t>
            </a:r>
          </a:p>
          <a:p>
            <a:r>
              <a:rPr lang="en-US" altLang="zh-TW" sz="1600" b="1">
                <a:latin typeface="Courier New" pitchFamily="49" charset="0"/>
                <a:cs typeface="Courier New" pitchFamily="49" charset="0"/>
              </a:rPr>
              <a:t>  var t = new Date().getHours();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 (t&lt;10) {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document.write("&lt;b&gt;Good morning&lt;/b&gt;");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} else if (t&gt;=10 &amp;&amp; t&lt;16) {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document.write("&lt;b&gt;Good day&lt;/b&gt;");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} else {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document.write("&lt;b&gt;Hello World!&lt;/b&gt;");</a:t>
            </a:r>
          </a:p>
          <a:p>
            <a:r>
              <a:rPr lang="en-US" altLang="zh-TW" sz="16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altLang="zh-TW" sz="1600" b="1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20</a:t>
            </a:fld>
            <a:endParaRPr lang="zh-HK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switch-case</a:t>
            </a:r>
          </a:p>
          <a:p>
            <a:pPr lvl="1"/>
            <a:r>
              <a:rPr lang="en-US" altLang="zh-TW" dirty="0"/>
              <a:t>Perform different action based on different condition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switch (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label1: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statement;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break;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label2: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 statement; 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      break;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default: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  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 statement; 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>
              <a:buNone/>
            </a:pPr>
            <a:endParaRPr lang="en-US" altLang="zh-TW" dirty="0"/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3419375" y="3212976"/>
            <a:ext cx="5401097" cy="32316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&lt;script type="text/javascript"&gt;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var theDay=new Date().getDay();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switch (theDay) {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case 5: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document.write("&lt;b&gt;Finally Friday&lt;/b&gt;");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case 6: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document.write("&lt;b&gt;Super Saturday&lt;/b&gt;");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case 0: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document.write("&lt;b&gt;Sleepy Sunday&lt;/b&gt;");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default: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document.write("&lt;b&gt;I'm really looking forward to   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                     this weekend!&lt;/b&gt;");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r>
              <a:rPr lang="en-US" altLang="zh-TW" sz="1200" b="1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21</a:t>
            </a:fld>
            <a:endParaRPr lang="zh-HK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dirty="0"/>
              <a:t>for</a:t>
            </a:r>
          </a:p>
          <a:p>
            <a:pPr lvl="1"/>
            <a:r>
              <a:rPr lang="en-US" altLang="zh-TW" dirty="0"/>
              <a:t>Loops through a block of code a number of times</a:t>
            </a:r>
          </a:p>
          <a:p>
            <a:pPr lvl="2"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startvalue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&lt;=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endvalue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sz="1700" dirty="0" err="1">
                <a:latin typeface="Courier New" pitchFamily="49" charset="0"/>
                <a:cs typeface="Courier New" pitchFamily="49" charset="0"/>
              </a:rPr>
              <a:t>+</a:t>
            </a:r>
            <a:r>
              <a:rPr lang="en-US" altLang="zh-TW" sz="1700" i="1" dirty="0" err="1">
                <a:latin typeface="Courier New" pitchFamily="49" charset="0"/>
                <a:cs typeface="Courier New" pitchFamily="49" charset="0"/>
              </a:rPr>
              <a:t>increment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zh-TW" sz="17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code to be executed</a:t>
            </a:r>
            <a:endParaRPr lang="en-US" altLang="zh-TW" sz="1700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899864" y="3789040"/>
            <a:ext cx="7848600" cy="25860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altLang="zh-TW" b="1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fr-FR" altLang="zh-TW" b="1" dirty="0">
                <a:latin typeface="Courier New" pitchFamily="49" charset="0"/>
                <a:cs typeface="Courier New" pitchFamily="49" charset="0"/>
              </a:rPr>
              <a:t>  &lt;script type="text/javascript"&gt;</a:t>
            </a:r>
          </a:p>
          <a:p>
            <a:r>
              <a:rPr lang="fr-FR" altLang="zh-TW" b="1" dirty="0">
                <a:latin typeface="Courier New" pitchFamily="49" charset="0"/>
                <a:cs typeface="Courier New" pitchFamily="49" charset="0"/>
              </a:rPr>
              <a:t>    var i=0;</a:t>
            </a:r>
          </a:p>
          <a:p>
            <a:r>
              <a:rPr lang="fr-FR" altLang="zh-TW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(i=0;i&lt;=5;i++) {</a:t>
            </a:r>
          </a:p>
          <a:p>
            <a:r>
              <a:rPr lang="fr-FR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document.write("The number is " + i);</a:t>
            </a:r>
          </a:p>
          <a:p>
            <a:r>
              <a:rPr lang="fr-FR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document.write("&lt;br /&gt;");</a:t>
            </a:r>
          </a:p>
          <a:p>
            <a:r>
              <a:rPr lang="fr-FR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fr-FR" altLang="zh-TW" b="1" dirty="0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r>
              <a:rPr lang="fr-FR" altLang="zh-TW" b="1" dirty="0">
                <a:latin typeface="Courier New" pitchFamily="49" charset="0"/>
                <a:cs typeface="Courier New" pitchFamily="49" charset="0"/>
              </a:rPr>
              <a:t>&lt;/body&gt;</a:t>
            </a:r>
            <a:endParaRPr lang="en-US" altLang="zh-TW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22</a:t>
            </a:fld>
            <a:endParaRPr lang="zh-HK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dirty="0"/>
              <a:t>for…in</a:t>
            </a:r>
          </a:p>
          <a:p>
            <a:pPr lvl="1"/>
            <a:r>
              <a:rPr lang="en-US" altLang="zh-TW" dirty="0"/>
              <a:t>Loops through the properties of an object</a:t>
            </a: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variable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zh-TW" sz="17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700" i="1" dirty="0">
                <a:latin typeface="Courier New" pitchFamily="49" charset="0"/>
                <a:cs typeface="Courier New" pitchFamily="49" charset="0"/>
              </a:rPr>
              <a:t>  code to be executed</a:t>
            </a:r>
            <a:endParaRPr lang="en-US" altLang="zh-TW" sz="1700" dirty="0">
              <a:latin typeface="Courier New" pitchFamily="49" charset="0"/>
              <a:cs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r>
              <a:rPr lang="en-US" altLang="zh-TW" sz="17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>
              <a:buNone/>
            </a:pPr>
            <a:endParaRPr lang="en-US" altLang="zh-TW" dirty="0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187624" y="3861048"/>
            <a:ext cx="6985000" cy="1477963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person={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fname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:"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John",lname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:"Doe",age:25}; </a:t>
            </a:r>
            <a:br>
              <a:rPr lang="en-US" altLang="zh-TW" dirty="0">
                <a:latin typeface="Courier New" pitchFamily="49" charset="0"/>
                <a:cs typeface="Courier New" pitchFamily="49" charset="0"/>
              </a:rPr>
            </a:br>
            <a:br>
              <a:rPr lang="en-US" altLang="zh-TW" dirty="0">
                <a:latin typeface="Courier New" pitchFamily="49" charset="0"/>
                <a:cs typeface="Courier New" pitchFamily="49" charset="0"/>
              </a:rPr>
            </a:br>
            <a:r>
              <a:rPr lang="en-US" altLang="zh-TW" dirty="0">
                <a:latin typeface="Courier New" pitchFamily="49" charset="0"/>
                <a:cs typeface="Courier New" pitchFamily="49" charset="0"/>
              </a:rPr>
              <a:t>for (x in person) {</a:t>
            </a:r>
            <a:br>
              <a:rPr lang="en-US" altLang="zh-TW" dirty="0">
                <a:latin typeface="Courier New" pitchFamily="49" charset="0"/>
                <a:cs typeface="Courier New" pitchFamily="49" charset="0"/>
              </a:rPr>
            </a:br>
            <a:r>
              <a:rPr lang="en-US" altLang="zh-TW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dirty="0">
                <a:latin typeface="Courier New" pitchFamily="49" charset="0"/>
                <a:cs typeface="Courier New" pitchFamily="49" charset="0"/>
              </a:rPr>
              <a:t>(person[x] + " ");</a:t>
            </a:r>
            <a:br>
              <a:rPr lang="en-US" altLang="zh-TW" dirty="0">
                <a:latin typeface="Courier New" pitchFamily="49" charset="0"/>
                <a:cs typeface="Courier New" pitchFamily="49" charset="0"/>
              </a:rPr>
            </a:br>
            <a:r>
              <a:rPr lang="en-US" altLang="zh-TW" dirty="0">
                <a:latin typeface="Courier New" pitchFamily="49" charset="0"/>
                <a:cs typeface="Courier New" pitchFamily="49" charset="0"/>
              </a:rPr>
              <a:t>}</a:t>
            </a:r>
            <a:endParaRPr lang="en-US" altLang="zh-TW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23</a:t>
            </a:fld>
            <a:endParaRPr lang="zh-HK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while</a:t>
            </a:r>
          </a:p>
          <a:p>
            <a:pPr lvl="1"/>
            <a:r>
              <a:rPr lang="en-US" altLang="zh-TW" sz="2000" dirty="0"/>
              <a:t>Loops through a block of code while a specified condition is true</a:t>
            </a:r>
          </a:p>
          <a:p>
            <a:pPr lvl="2">
              <a:buNone/>
            </a:pPr>
            <a:r>
              <a:rPr lang="en-US" altLang="zh-TW" sz="2000" dirty="0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altLang="zh-TW" sz="2000" i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altLang="zh-TW" sz="2000" dirty="0">
                <a:latin typeface="Courier New" pitchFamily="49" charset="0"/>
                <a:cs typeface="Courier New" pitchFamily="49" charset="0"/>
              </a:rPr>
              <a:t>)   {</a:t>
            </a:r>
            <a:br>
              <a:rPr lang="en-US" altLang="zh-TW" sz="20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2000" i="1" dirty="0">
                <a:latin typeface="Courier New" pitchFamily="49" charset="0"/>
                <a:cs typeface="Courier New" pitchFamily="49" charset="0"/>
              </a:rPr>
              <a:t>   code to be executed</a:t>
            </a:r>
          </a:p>
          <a:p>
            <a:pPr lvl="2">
              <a:buNone/>
            </a:pPr>
            <a:r>
              <a:rPr lang="en-US" altLang="zh-TW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2123802" y="3573016"/>
            <a:ext cx="6408638" cy="2862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altLang="zh-TW" b="1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fr-FR" altLang="zh-TW" b="1">
                <a:latin typeface="Courier New" pitchFamily="49" charset="0"/>
                <a:cs typeface="Courier New" pitchFamily="49" charset="0"/>
              </a:rPr>
              <a:t>  &lt;script type="text/javascript"&gt;</a:t>
            </a:r>
          </a:p>
          <a:p>
            <a:r>
              <a:rPr lang="fr-FR" altLang="zh-TW" b="1">
                <a:latin typeface="Courier New" pitchFamily="49" charset="0"/>
                <a:cs typeface="Courier New" pitchFamily="49" charset="0"/>
              </a:rPr>
              <a:t>    i=0;</a:t>
            </a:r>
          </a:p>
          <a:p>
            <a:r>
              <a:rPr lang="fr-FR" altLang="zh-TW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altLang="zh-TW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 (i&lt;=5) {</a:t>
            </a:r>
          </a:p>
          <a:p>
            <a:r>
              <a:rPr lang="fr-FR" altLang="zh-TW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document.write("The number is " + i);</a:t>
            </a:r>
          </a:p>
          <a:p>
            <a:r>
              <a:rPr lang="fr-FR" altLang="zh-TW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document.write("&lt;br /&gt;");</a:t>
            </a:r>
          </a:p>
          <a:p>
            <a:r>
              <a:rPr lang="fr-FR" altLang="zh-TW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i++;</a:t>
            </a:r>
          </a:p>
          <a:p>
            <a:r>
              <a:rPr lang="fr-FR" altLang="zh-TW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fr-FR" altLang="zh-TW" b="1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r>
              <a:rPr lang="fr-FR" altLang="zh-TW" b="1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24</a:t>
            </a:fld>
            <a:endParaRPr lang="zh-HK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do…while</a:t>
            </a:r>
          </a:p>
          <a:p>
            <a:pPr lvl="1"/>
            <a:r>
              <a:rPr lang="en-US" altLang="zh-TW" sz="2000" dirty="0"/>
              <a:t>Loops through a block of code while a specified condition is true</a:t>
            </a:r>
          </a:p>
          <a:p>
            <a:pPr lvl="2"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do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  code to be executed</a:t>
            </a:r>
          </a:p>
          <a:p>
            <a:pPr lvl="2"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} while (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); </a:t>
            </a:r>
            <a:br>
              <a:rPr lang="en-US" altLang="zh-TW" sz="2000" dirty="0"/>
            </a:br>
            <a:endParaRPr lang="en-US" altLang="zh-TW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2051720" y="3735089"/>
            <a:ext cx="6624464" cy="2862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&lt;script type="text/javascript"&gt;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i = 0;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do {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document.write("The number is " + i);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document.write("&lt;br /&gt;");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i++;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} while (i &lt;= 5);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25</a:t>
            </a:fld>
            <a:endParaRPr lang="zh-HK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dirty="0"/>
              <a:t>break </a:t>
            </a:r>
          </a:p>
          <a:p>
            <a:pPr lvl="1"/>
            <a:r>
              <a:rPr lang="en-US" altLang="zh-TW" dirty="0"/>
              <a:t>break the loop and continue executing  the code that follows after the loop</a:t>
            </a:r>
          </a:p>
          <a:p>
            <a:endParaRPr lang="en-US" altLang="zh-TW" dirty="0"/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115616" y="3284984"/>
            <a:ext cx="6985000" cy="3416300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&lt;script type="text/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=0;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=0;i&lt;=10;i++) {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 if (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==3) {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TW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("The number is " +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("&lt;</a:t>
            </a:r>
            <a:r>
              <a:rPr lang="en-US" altLang="zh-TW" b="1" dirty="0" err="1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/&gt;");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r>
              <a:rPr lang="en-US" altLang="zh-TW" b="1" dirty="0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26</a:t>
            </a:fld>
            <a:endParaRPr lang="zh-HK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686800" cy="4389120"/>
          </a:xfrm>
        </p:spPr>
        <p:txBody>
          <a:bodyPr>
            <a:normAutofit/>
          </a:bodyPr>
          <a:lstStyle/>
          <a:p>
            <a:r>
              <a:rPr lang="en-US" altLang="zh-TW" dirty="0"/>
              <a:t>continue</a:t>
            </a:r>
          </a:p>
          <a:p>
            <a:pPr lvl="1"/>
            <a:r>
              <a:rPr lang="en-US" altLang="zh-TW" dirty="0"/>
              <a:t>break the current loop and continue with the next value</a:t>
            </a:r>
            <a:endParaRPr lang="zh-TW" alt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58888" y="2997200"/>
            <a:ext cx="6985000" cy="3416300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&lt;script type="text/javascript"&gt;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var i=0;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for (i=0;i&lt;=10;i++) {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if (i==3) {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TW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continue;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document.write("The number is " + i);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  document.write("&lt;br /&gt;");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r>
              <a:rPr lang="en-US" altLang="zh-TW" b="1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27</a:t>
            </a:fld>
            <a:endParaRPr lang="zh-HK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A block of code that will be executed when “someone” calls it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TW" sz="1800" i="1" dirty="0" err="1"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some code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zh-TW" altLang="en-US" sz="2000" dirty="0"/>
          </a:p>
        </p:txBody>
      </p:sp>
      <p:sp>
        <p:nvSpPr>
          <p:cNvPr id="4" name="TextBox 7"/>
          <p:cNvSpPr txBox="1"/>
          <p:nvPr/>
        </p:nvSpPr>
        <p:spPr>
          <a:xfrm>
            <a:off x="1979712" y="3068960"/>
            <a:ext cx="6553200" cy="34163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&lt;script type="text/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defRPr/>
            </a:pP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function </a:t>
            </a:r>
            <a:r>
              <a:rPr lang="en-US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displaymessage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defRPr/>
            </a:pP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alert("Hello World!");</a:t>
            </a:r>
          </a:p>
          <a:p>
            <a:pPr>
              <a:defRPr/>
            </a:pP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&lt;form&gt;&lt;input type="button" value="Click me!" 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displaymessage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28</a:t>
            </a:fld>
            <a:endParaRPr lang="zh-HK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Pass some arguments separated by comma when call a function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TW" sz="1800" i="1" dirty="0" err="1"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(arg</a:t>
            </a: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1,arg2,...,</a:t>
            </a:r>
            <a:r>
              <a:rPr lang="en-US" altLang="zh-TW" sz="1800" i="1" dirty="0" err="1">
                <a:latin typeface="Courier New" pitchFamily="49" charset="0"/>
                <a:cs typeface="Courier New" pitchFamily="49" charset="0"/>
              </a:rPr>
              <a:t>argX</a:t>
            </a: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altLang="zh-TW" sz="1800" dirty="0">
                <a:latin typeface="Courier New" pitchFamily="49" charset="0"/>
                <a:cs typeface="Courier New" pitchFamily="49" charset="0"/>
              </a:rPr>
            </a:br>
            <a:r>
              <a:rPr lang="en-US" altLang="zh-TW" sz="1800" i="1" dirty="0">
                <a:latin typeface="Courier New" pitchFamily="49" charset="0"/>
                <a:cs typeface="Courier New" pitchFamily="49" charset="0"/>
              </a:rPr>
              <a:t>some code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zh-TW" altLang="en-US" sz="2000" dirty="0"/>
          </a:p>
        </p:txBody>
      </p:sp>
      <p:sp>
        <p:nvSpPr>
          <p:cNvPr id="4" name="TextBox 7"/>
          <p:cNvSpPr txBox="1"/>
          <p:nvPr/>
        </p:nvSpPr>
        <p:spPr>
          <a:xfrm>
            <a:off x="1979712" y="3068960"/>
            <a:ext cx="6553200" cy="366254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&lt;script type="text/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defRPr/>
            </a:pPr>
            <a:r>
              <a:rPr lang="pt-B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function sumAnswer(num1, num2) {</a:t>
            </a:r>
          </a:p>
          <a:p>
            <a:pPr>
              <a:defRPr/>
            </a:pPr>
            <a:r>
              <a:rPr lang="pt-B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ans = num1 + num2;</a:t>
            </a:r>
          </a:p>
          <a:p>
            <a:pPr>
              <a:defRPr/>
            </a:pPr>
            <a:r>
              <a:rPr lang="pt-B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alert("Answer of " + num1 + " + " + num2 +</a:t>
            </a:r>
          </a:p>
          <a:p>
            <a:pPr>
              <a:defRPr/>
            </a:pPr>
            <a:r>
              <a:rPr lang="pt-B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   " is " + ans);</a:t>
            </a:r>
          </a:p>
          <a:p>
            <a:pPr>
              <a:defRPr/>
            </a:pPr>
            <a:r>
              <a:rPr lang="pt-B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}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&lt;form&gt;&lt;input type="button" value="Click me!" 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sumAnswer</a:t>
            </a:r>
            <a:r>
              <a:rPr lang="en-US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(10, 20)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29</a:t>
            </a:fld>
            <a:endParaRPr lang="zh-HK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B0F0"/>
                </a:solidFill>
              </a:rPr>
              <a:t>return</a:t>
            </a:r>
            <a:r>
              <a:rPr lang="en-US" altLang="zh-TW" dirty="0"/>
              <a:t> statement</a:t>
            </a:r>
          </a:p>
          <a:p>
            <a:pPr lvl="1"/>
            <a:r>
              <a:rPr lang="en-US" altLang="zh-TW" sz="2000" dirty="0"/>
              <a:t>specify the value that is returned from the function</a:t>
            </a:r>
            <a:endParaRPr lang="en-US" altLang="zh-TW" sz="2000" dirty="0">
              <a:latin typeface="Courier New" pitchFamily="49" charset="0"/>
              <a:cs typeface="Courier New" pitchFamily="49" charset="0"/>
            </a:endParaRPr>
          </a:p>
          <a:p>
            <a:endParaRPr lang="zh-TW" altLang="en-US" sz="2000" dirty="0"/>
          </a:p>
        </p:txBody>
      </p:sp>
      <p:sp>
        <p:nvSpPr>
          <p:cNvPr id="5" name="TextBox 7"/>
          <p:cNvSpPr txBox="1"/>
          <p:nvPr/>
        </p:nvSpPr>
        <p:spPr>
          <a:xfrm>
            <a:off x="1187624" y="2996952"/>
            <a:ext cx="6553200" cy="34163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&lt;script type="text/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function product(a, b) 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a*b;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&lt;script type="text/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product(2,3)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&lt;/script&gt;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&lt;/body&gt;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30</a:t>
            </a:fld>
            <a:endParaRPr lang="zh-HK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Scope of variables</a:t>
            </a:r>
          </a:p>
          <a:p>
            <a:pPr lvl="1"/>
            <a:r>
              <a:rPr lang="en-US" altLang="zh-TW" dirty="0"/>
              <a:t>Global</a:t>
            </a:r>
          </a:p>
          <a:p>
            <a:pPr lvl="2"/>
            <a:r>
              <a:rPr lang="en-US" altLang="zh-TW" dirty="0"/>
              <a:t>Declared outside a function</a:t>
            </a:r>
          </a:p>
          <a:p>
            <a:pPr lvl="2"/>
            <a:r>
              <a:rPr lang="en-US" altLang="zh-TW" dirty="0"/>
              <a:t>All scripts and functions on the web page can access it</a:t>
            </a:r>
          </a:p>
          <a:p>
            <a:pPr lvl="2"/>
            <a:r>
              <a:rPr lang="en-US" altLang="zh-TW" dirty="0"/>
              <a:t>Deleted when close the web page</a:t>
            </a:r>
          </a:p>
          <a:p>
            <a:pPr lvl="1"/>
            <a:r>
              <a:rPr lang="en-US" altLang="zh-TW" dirty="0"/>
              <a:t>Local variables</a:t>
            </a:r>
          </a:p>
          <a:p>
            <a:pPr lvl="2"/>
            <a:r>
              <a:rPr lang="en-US" altLang="zh-TW" dirty="0"/>
              <a:t>A variable declared (using </a:t>
            </a:r>
            <a:r>
              <a:rPr lang="en-US" altLang="zh-TW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TW" dirty="0"/>
              <a:t>) within a JavaScript function</a:t>
            </a:r>
          </a:p>
          <a:p>
            <a:pPr lvl="2"/>
            <a:r>
              <a:rPr lang="en-US" altLang="zh-TW" dirty="0"/>
              <a:t>Only be accessed within that function</a:t>
            </a:r>
          </a:p>
          <a:p>
            <a:pPr lvl="2"/>
            <a:r>
              <a:rPr lang="en-US" altLang="zh-TW" dirty="0"/>
              <a:t>Deleted as soon as the function is completed </a:t>
            </a:r>
          </a:p>
          <a:p>
            <a:pPr lvl="1"/>
            <a:endParaRPr lang="en-US" altLang="zh-TW" dirty="0"/>
          </a:p>
          <a:p>
            <a:endParaRPr lang="zh-TW" altLang="en-US" sz="20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7BF74-4D49-4B44-ABF4-339C62A0425C}" type="slidenum">
              <a:rPr lang="zh-HK" altLang="en-US" smtClean="0"/>
              <a:pPr/>
              <a:t>31</a:t>
            </a:fld>
            <a:endParaRPr lang="zh-HK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線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1619</TotalTime>
  <Words>2724</Words>
  <Application>Microsoft Office PowerPoint</Application>
  <PresentationFormat>On-screen Show (4:3)</PresentationFormat>
  <Paragraphs>546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微軟正黑體</vt:lpstr>
      <vt:lpstr>新細明體</vt:lpstr>
      <vt:lpstr>Calibri</vt:lpstr>
      <vt:lpstr>Constantia</vt:lpstr>
      <vt:lpstr>Courier New</vt:lpstr>
      <vt:lpstr>Times New Roman</vt:lpstr>
      <vt:lpstr>Wingdings</vt:lpstr>
      <vt:lpstr>Wingdings 2</vt:lpstr>
      <vt:lpstr>流線</vt:lpstr>
      <vt:lpstr>Introduction to JavaScript Programming</vt:lpstr>
      <vt:lpstr>Outlines</vt:lpstr>
      <vt:lpstr>Data Types</vt:lpstr>
      <vt:lpstr>Type Conversion and Casting</vt:lpstr>
      <vt:lpstr>Type Conversion and Casting</vt:lpstr>
      <vt:lpstr>Type Conversion and Casting</vt:lpstr>
      <vt:lpstr>Type Conversion and Casting</vt:lpstr>
      <vt:lpstr>Variables</vt:lpstr>
      <vt:lpstr>Variables</vt:lpstr>
      <vt:lpstr>Arrays</vt:lpstr>
      <vt:lpstr>Expressions</vt:lpstr>
      <vt:lpstr>Operators</vt:lpstr>
      <vt:lpstr>PowerPoint Presentation</vt:lpstr>
      <vt:lpstr>PowerPoint Presentation</vt:lpstr>
      <vt:lpstr>Operators</vt:lpstr>
      <vt:lpstr>Operators</vt:lpstr>
      <vt:lpstr>Control Flow</vt:lpstr>
      <vt:lpstr>Control Flow</vt:lpstr>
      <vt:lpstr>Control Flow</vt:lpstr>
      <vt:lpstr>Control Flow</vt:lpstr>
      <vt:lpstr>Control Flow</vt:lpstr>
      <vt:lpstr>Control Flow</vt:lpstr>
      <vt:lpstr>Control Flow</vt:lpstr>
      <vt:lpstr>Control Flow</vt:lpstr>
      <vt:lpstr>Control Flow</vt:lpstr>
      <vt:lpstr>Control Flow</vt:lpstr>
      <vt:lpstr>Control Flow</vt:lpstr>
      <vt:lpstr>Function</vt:lpstr>
      <vt:lpstr>Function</vt:lpstr>
      <vt:lpstr>Function</vt:lpstr>
      <vt:lpstr>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 Programming</dc:title>
  <dc:creator>aho</dc:creator>
  <cp:lastModifiedBy>Clarence Lau</cp:lastModifiedBy>
  <cp:revision>150</cp:revision>
  <dcterms:created xsi:type="dcterms:W3CDTF">2013-08-10T10:04:05Z</dcterms:created>
  <dcterms:modified xsi:type="dcterms:W3CDTF">2021-10-28T08:06:59Z</dcterms:modified>
</cp:coreProperties>
</file>