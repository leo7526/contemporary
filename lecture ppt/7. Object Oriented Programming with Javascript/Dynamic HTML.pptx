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0F1EF-F20C-4086-8BF5-6F76ECB228D3}" type="datetimeFigureOut">
              <a:rPr lang="zh-HK" altLang="en-US" smtClean="0"/>
              <a:t>3/11/2021</a:t>
            </a:fld>
            <a:endParaRPr lang="zh-HK" alt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E31A-0504-4ED5-95BD-C65C4C1B84CC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0F1EF-F20C-4086-8BF5-6F76ECB228D3}" type="datetimeFigureOut">
              <a:rPr lang="zh-HK" altLang="en-US" smtClean="0"/>
              <a:t>3/11/2021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E31A-0504-4ED5-95BD-C65C4C1B84CC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0F1EF-F20C-4086-8BF5-6F76ECB228D3}" type="datetimeFigureOut">
              <a:rPr lang="zh-HK" altLang="en-US" smtClean="0"/>
              <a:t>3/11/2021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E31A-0504-4ED5-95BD-C65C4C1B84CC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0F1EF-F20C-4086-8BF5-6F76ECB228D3}" type="datetimeFigureOut">
              <a:rPr lang="zh-HK" altLang="en-US" smtClean="0"/>
              <a:t>3/11/2021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E31A-0504-4ED5-95BD-C65C4C1B84CC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0F1EF-F20C-4086-8BF5-6F76ECB228D3}" type="datetimeFigureOut">
              <a:rPr lang="zh-HK" altLang="en-US" smtClean="0"/>
              <a:t>3/11/2021</a:t>
            </a:fld>
            <a:endParaRPr lang="zh-HK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E31A-0504-4ED5-95BD-C65C4C1B84CC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0F1EF-F20C-4086-8BF5-6F76ECB228D3}" type="datetimeFigureOut">
              <a:rPr lang="zh-HK" altLang="en-US" smtClean="0"/>
              <a:t>3/11/2021</a:t>
            </a:fld>
            <a:endParaRPr lang="zh-HK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E31A-0504-4ED5-95BD-C65C4C1B84CC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0F1EF-F20C-4086-8BF5-6F76ECB228D3}" type="datetimeFigureOut">
              <a:rPr lang="zh-HK" altLang="en-US" smtClean="0"/>
              <a:t>3/11/2021</a:t>
            </a:fld>
            <a:endParaRPr lang="zh-HK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E31A-0504-4ED5-95BD-C65C4C1B84CC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0F1EF-F20C-4086-8BF5-6F76ECB228D3}" type="datetimeFigureOut">
              <a:rPr lang="zh-HK" altLang="en-US" smtClean="0"/>
              <a:t>3/11/2021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E31A-0504-4ED5-95BD-C65C4C1B84CC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0F1EF-F20C-4086-8BF5-6F76ECB228D3}" type="datetimeFigureOut">
              <a:rPr lang="zh-HK" altLang="en-US" smtClean="0"/>
              <a:t>3/11/2021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1160E31A-0504-4ED5-95BD-C65C4C1B84CC}" type="slidenum">
              <a:rPr lang="zh-HK" altLang="en-US" smtClean="0"/>
              <a:t>‹#›</a:t>
            </a:fld>
            <a:endParaRPr lang="zh-HK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0F1EF-F20C-4086-8BF5-6F76ECB228D3}" type="datetimeFigureOut">
              <a:rPr lang="zh-HK" altLang="en-US" smtClean="0"/>
              <a:t>3/11/2021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E31A-0504-4ED5-95BD-C65C4C1B84CC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0F1EF-F20C-4086-8BF5-6F76ECB228D3}" type="datetimeFigureOut">
              <a:rPr lang="zh-HK" altLang="en-US" smtClean="0"/>
              <a:t>3/11/2021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E31A-0504-4ED5-95BD-C65C4C1B84CC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E190F1EF-F20C-4086-8BF5-6F76ECB228D3}" type="datetimeFigureOut">
              <a:rPr lang="zh-HK" altLang="en-US" smtClean="0"/>
              <a:t>3/11/2021</a:t>
            </a:fld>
            <a:endParaRPr lang="zh-HK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160E31A-0504-4ED5-95BD-C65C4C1B84CC}" type="slidenum">
              <a:rPr lang="zh-HK" altLang="en-US" smtClean="0"/>
              <a:t>‹#›</a:t>
            </a:fld>
            <a:endParaRPr lang="zh-HK" alt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dhtmlex1.ht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dhtmlex2.htm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dhtmlex3.htm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dhtmlex4.htm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dhtmlex5.htm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dhtmlex6.htm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dhtmlex7.htm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dhtmlex8.htm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dhtmlex9.htm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dhtmlex10.htm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dhtmlex11.htm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dhtmlex12.htm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dhtmlex13.htm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dhtmlex14.htm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HK" dirty="0"/>
              <a:t>Dynamic HTML</a:t>
            </a:r>
            <a:endParaRPr lang="zh-HK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3056797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Generating Dynamic Content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HK" dirty="0"/>
              <a:t>In JavaScript, </a:t>
            </a:r>
            <a:r>
              <a:rPr lang="en-US" altLang="zh-HK" dirty="0" err="1">
                <a:latin typeface="Courier New" pitchFamily="49" charset="0"/>
                <a:cs typeface="Courier New" pitchFamily="49" charset="0"/>
              </a:rPr>
              <a:t>document.write</a:t>
            </a:r>
            <a:r>
              <a:rPr lang="en-US" altLang="zh-HK" dirty="0">
                <a:latin typeface="Courier New" pitchFamily="49" charset="0"/>
                <a:cs typeface="Courier New" pitchFamily="49" charset="0"/>
              </a:rPr>
              <a:t>() </a:t>
            </a:r>
            <a:r>
              <a:rPr lang="en-US" altLang="zh-HK" dirty="0"/>
              <a:t>can be used to dynamically generate HTML content (</a:t>
            </a:r>
            <a:r>
              <a:rPr lang="en-US" altLang="zh-HK" dirty="0">
                <a:hlinkClick r:id="rId2" action="ppaction://hlinkfile"/>
              </a:rPr>
              <a:t>view</a:t>
            </a:r>
            <a:r>
              <a:rPr lang="en-US" altLang="zh-HK" dirty="0"/>
              <a:t>):</a:t>
            </a:r>
          </a:p>
          <a:p>
            <a:pPr marL="400050" lvl="1" indent="0">
              <a:buNone/>
            </a:pPr>
            <a:r>
              <a:rPr lang="en-US" altLang="zh-HK" sz="3200" dirty="0">
                <a:latin typeface="Courier New" pitchFamily="49" charset="0"/>
                <a:cs typeface="Courier New" pitchFamily="49" charset="0"/>
              </a:rPr>
              <a:t>&lt;!DOCTYPE html&gt;</a:t>
            </a:r>
          </a:p>
          <a:p>
            <a:pPr marL="400050" lvl="1" indent="0">
              <a:buNone/>
            </a:pPr>
            <a:r>
              <a:rPr lang="en-US" altLang="zh-HK" sz="3200" dirty="0">
                <a:latin typeface="Courier New" pitchFamily="49" charset="0"/>
                <a:cs typeface="Courier New" pitchFamily="49" charset="0"/>
              </a:rPr>
              <a:t>&lt;html&gt;</a:t>
            </a:r>
          </a:p>
          <a:p>
            <a:pPr marL="400050" lvl="1" indent="0">
              <a:buNone/>
            </a:pPr>
            <a:r>
              <a:rPr lang="en-US" altLang="zh-HK" sz="3200" dirty="0">
                <a:latin typeface="Courier New" pitchFamily="49" charset="0"/>
                <a:cs typeface="Courier New" pitchFamily="49" charset="0"/>
              </a:rPr>
              <a:t>&lt;body&gt;</a:t>
            </a:r>
          </a:p>
          <a:p>
            <a:pPr marL="400050" lvl="1" indent="0">
              <a:buNone/>
            </a:pPr>
            <a:r>
              <a:rPr lang="en-US" altLang="zh-HK" sz="3200" dirty="0">
                <a:latin typeface="Courier New" pitchFamily="49" charset="0"/>
                <a:cs typeface="Courier New" pitchFamily="49" charset="0"/>
              </a:rPr>
              <a:t>&lt;script&gt;</a:t>
            </a:r>
          </a:p>
          <a:p>
            <a:pPr marL="400050" lvl="1" indent="0">
              <a:buNone/>
            </a:pPr>
            <a:r>
              <a:rPr lang="en-US" altLang="zh-HK" sz="3200" dirty="0" err="1">
                <a:latin typeface="Courier New" pitchFamily="49" charset="0"/>
                <a:cs typeface="Courier New" pitchFamily="49" charset="0"/>
              </a:rPr>
              <a:t>document.write</a:t>
            </a:r>
            <a:r>
              <a:rPr lang="en-US" altLang="zh-HK" sz="3200" dirty="0">
                <a:latin typeface="Courier New" pitchFamily="49" charset="0"/>
                <a:cs typeface="Courier New" pitchFamily="49" charset="0"/>
              </a:rPr>
              <a:t>("The current time is " + Date());</a:t>
            </a:r>
          </a:p>
          <a:p>
            <a:pPr marL="400050" lvl="1" indent="0">
              <a:buNone/>
            </a:pPr>
            <a:r>
              <a:rPr lang="en-US" altLang="zh-HK" sz="3200" dirty="0">
                <a:latin typeface="Courier New" pitchFamily="49" charset="0"/>
                <a:cs typeface="Courier New" pitchFamily="49" charset="0"/>
              </a:rPr>
              <a:t>&lt;/script&gt;</a:t>
            </a:r>
          </a:p>
          <a:p>
            <a:pPr marL="400050" lvl="1" indent="0">
              <a:buNone/>
            </a:pPr>
            <a:r>
              <a:rPr lang="en-US" altLang="zh-HK" sz="3200" dirty="0">
                <a:latin typeface="Courier New" pitchFamily="49" charset="0"/>
                <a:cs typeface="Courier New" pitchFamily="49" charset="0"/>
              </a:rPr>
              <a:t>&lt;/body&gt;</a:t>
            </a:r>
          </a:p>
          <a:p>
            <a:pPr marL="400050" lvl="1" indent="0">
              <a:buNone/>
            </a:pPr>
            <a:r>
              <a:rPr lang="en-US" altLang="zh-HK" sz="3200" dirty="0">
                <a:latin typeface="Courier New" pitchFamily="49" charset="0"/>
                <a:cs typeface="Courier New" pitchFamily="49" charset="0"/>
              </a:rPr>
              <a:t>&lt;/html&gt;</a:t>
            </a:r>
          </a:p>
          <a:p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2173964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K" dirty="0"/>
              <a:t>Changing HTML Content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zh-HK" sz="2900" dirty="0"/>
              <a:t>The content of an HTML element can be modified by using the </a:t>
            </a:r>
            <a:r>
              <a:rPr lang="en-US" altLang="zh-HK" sz="2900" dirty="0" err="1">
                <a:latin typeface="Courier New" pitchFamily="49" charset="0"/>
                <a:cs typeface="Courier New" pitchFamily="49" charset="0"/>
              </a:rPr>
              <a:t>innerHTML</a:t>
            </a:r>
            <a:r>
              <a:rPr lang="en-US" altLang="zh-HK" sz="2900" dirty="0"/>
              <a:t> property:</a:t>
            </a:r>
          </a:p>
          <a:p>
            <a:pPr marL="0" indent="0">
              <a:buNone/>
            </a:pPr>
            <a:endParaRPr lang="en-US" altLang="zh-HK" dirty="0"/>
          </a:p>
          <a:p>
            <a:pPr marL="365760" lvl="1" indent="0">
              <a:buNone/>
            </a:pPr>
            <a:r>
              <a:rPr lang="en-US" altLang="zh-HK" sz="2600" dirty="0" err="1">
                <a:latin typeface="Courier New" pitchFamily="49" charset="0"/>
                <a:cs typeface="Courier New" pitchFamily="49" charset="0"/>
              </a:rPr>
              <a:t>document.getElementById</a:t>
            </a:r>
            <a:r>
              <a:rPr lang="en-US" altLang="zh-HK" sz="2600" dirty="0">
                <a:latin typeface="Courier New" pitchFamily="49" charset="0"/>
                <a:cs typeface="Courier New" pitchFamily="49" charset="0"/>
              </a:rPr>
              <a:t>(id).</a:t>
            </a:r>
            <a:r>
              <a:rPr lang="en-US" altLang="zh-HK" sz="2600" dirty="0" err="1">
                <a:latin typeface="Courier New" pitchFamily="49" charset="0"/>
                <a:cs typeface="Courier New" pitchFamily="49" charset="0"/>
              </a:rPr>
              <a:t>innerHTML</a:t>
            </a:r>
            <a:r>
              <a:rPr lang="en-US" altLang="zh-HK" sz="2600" dirty="0">
                <a:latin typeface="Courier New" pitchFamily="49" charset="0"/>
                <a:cs typeface="Courier New" pitchFamily="49" charset="0"/>
              </a:rPr>
              <a:t>=new HTML</a:t>
            </a:r>
          </a:p>
          <a:p>
            <a:pPr marL="365760" lvl="1" indent="0">
              <a:buNone/>
            </a:pPr>
            <a:endParaRPr lang="en-US" altLang="zh-HK" sz="2600" dirty="0">
              <a:latin typeface="Courier New" pitchFamily="49" charset="0"/>
              <a:cs typeface="Courier New" pitchFamily="49" charset="0"/>
            </a:endParaRPr>
          </a:p>
          <a:p>
            <a:r>
              <a:rPr lang="en-US" altLang="zh-HK" sz="2900" dirty="0"/>
              <a:t>The following code dynamically updates the content of paragraph p1 with the current time of the system (</a:t>
            </a:r>
            <a:r>
              <a:rPr lang="en-US" altLang="zh-HK" sz="2900" dirty="0">
                <a:hlinkClick r:id="rId2" action="ppaction://hlinkfile"/>
              </a:rPr>
              <a:t>view</a:t>
            </a:r>
            <a:r>
              <a:rPr lang="en-US" altLang="zh-HK" sz="2900" dirty="0"/>
              <a:t>):</a:t>
            </a:r>
          </a:p>
          <a:p>
            <a:pPr marL="365760" lvl="1" indent="0">
              <a:buNone/>
            </a:pPr>
            <a:r>
              <a:rPr lang="en-US" altLang="zh-HK" sz="2600" dirty="0">
                <a:latin typeface="Courier New" pitchFamily="49" charset="0"/>
                <a:cs typeface="Courier New" pitchFamily="49" charset="0"/>
              </a:rPr>
              <a:t>&lt;!DOCTYPE html&gt;</a:t>
            </a:r>
          </a:p>
          <a:p>
            <a:pPr marL="365760" lvl="1" indent="0">
              <a:buNone/>
            </a:pPr>
            <a:r>
              <a:rPr lang="en-US" altLang="zh-HK" sz="2600" dirty="0">
                <a:latin typeface="Courier New" pitchFamily="49" charset="0"/>
                <a:cs typeface="Courier New" pitchFamily="49" charset="0"/>
              </a:rPr>
              <a:t>&lt;html&gt;</a:t>
            </a:r>
          </a:p>
          <a:p>
            <a:pPr marL="365760" lvl="1" indent="0">
              <a:buNone/>
            </a:pPr>
            <a:r>
              <a:rPr lang="en-US" altLang="zh-HK" sz="2600" dirty="0">
                <a:latin typeface="Courier New" pitchFamily="49" charset="0"/>
                <a:cs typeface="Courier New" pitchFamily="49" charset="0"/>
              </a:rPr>
              <a:t>&lt;body&gt;</a:t>
            </a:r>
          </a:p>
          <a:p>
            <a:pPr marL="365760" lvl="1" indent="0">
              <a:buNone/>
            </a:pPr>
            <a:r>
              <a:rPr lang="en-US" altLang="zh-HK" sz="2600" dirty="0">
                <a:latin typeface="Courier New" pitchFamily="49" charset="0"/>
                <a:cs typeface="Courier New" pitchFamily="49" charset="0"/>
              </a:rPr>
              <a:t>&lt;p&gt;The current time is&lt;/p&gt;</a:t>
            </a:r>
          </a:p>
          <a:p>
            <a:pPr marL="365760" lvl="1" indent="0">
              <a:buNone/>
            </a:pPr>
            <a:r>
              <a:rPr lang="en-US" altLang="zh-HK" sz="2600" dirty="0">
                <a:latin typeface="Courier New" pitchFamily="49" charset="0"/>
                <a:cs typeface="Courier New" pitchFamily="49" charset="0"/>
              </a:rPr>
              <a:t>&lt;p id="p1"&gt;&lt;/p&gt;</a:t>
            </a:r>
          </a:p>
          <a:p>
            <a:pPr marL="365760" lvl="1" indent="0">
              <a:buNone/>
            </a:pPr>
            <a:r>
              <a:rPr lang="en-US" altLang="zh-HK" sz="2600" dirty="0">
                <a:latin typeface="Courier New" pitchFamily="49" charset="0"/>
                <a:cs typeface="Courier New" pitchFamily="49" charset="0"/>
              </a:rPr>
              <a:t>&lt;script&gt;</a:t>
            </a:r>
          </a:p>
          <a:p>
            <a:pPr marL="365760" lvl="1" indent="0">
              <a:buNone/>
            </a:pPr>
            <a:r>
              <a:rPr lang="en-US" altLang="zh-HK" sz="2600" dirty="0" err="1">
                <a:latin typeface="Courier New" pitchFamily="49" charset="0"/>
                <a:cs typeface="Courier New" pitchFamily="49" charset="0"/>
              </a:rPr>
              <a:t>document.getElementById</a:t>
            </a:r>
            <a:r>
              <a:rPr lang="en-US" altLang="zh-HK" sz="2600" dirty="0">
                <a:latin typeface="Courier New" pitchFamily="49" charset="0"/>
                <a:cs typeface="Courier New" pitchFamily="49" charset="0"/>
              </a:rPr>
              <a:t>("p1").</a:t>
            </a:r>
            <a:r>
              <a:rPr lang="en-US" altLang="zh-HK" sz="2600" dirty="0" err="1">
                <a:latin typeface="Courier New" pitchFamily="49" charset="0"/>
                <a:cs typeface="Courier New" pitchFamily="49" charset="0"/>
              </a:rPr>
              <a:t>innerHTML</a:t>
            </a:r>
            <a:r>
              <a:rPr lang="en-US" altLang="zh-HK" sz="2600" dirty="0">
                <a:latin typeface="Courier New" pitchFamily="49" charset="0"/>
                <a:cs typeface="Courier New" pitchFamily="49" charset="0"/>
              </a:rPr>
              <a:t>=Date();</a:t>
            </a:r>
          </a:p>
          <a:p>
            <a:pPr marL="365760" lvl="1" indent="0">
              <a:buNone/>
            </a:pPr>
            <a:r>
              <a:rPr lang="en-US" altLang="zh-HK" sz="2600" dirty="0">
                <a:latin typeface="Courier New" pitchFamily="49" charset="0"/>
                <a:cs typeface="Courier New" pitchFamily="49" charset="0"/>
              </a:rPr>
              <a:t>&lt;/script&gt;</a:t>
            </a:r>
          </a:p>
          <a:p>
            <a:pPr marL="365760" lvl="1" indent="0">
              <a:buNone/>
            </a:pPr>
            <a:r>
              <a:rPr lang="en-US" altLang="zh-HK" sz="2600" dirty="0">
                <a:latin typeface="Courier New" pitchFamily="49" charset="0"/>
                <a:cs typeface="Courier New" pitchFamily="49" charset="0"/>
              </a:rPr>
              <a:t>&lt;/body&gt;</a:t>
            </a:r>
          </a:p>
          <a:p>
            <a:pPr marL="365760" lvl="1" indent="0">
              <a:buNone/>
            </a:pPr>
            <a:r>
              <a:rPr lang="en-US" altLang="zh-HK" sz="2600" dirty="0">
                <a:latin typeface="Courier New" pitchFamily="49" charset="0"/>
                <a:cs typeface="Courier New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296892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Changing HTML Content (</a:t>
            </a:r>
            <a:r>
              <a:rPr lang="en-US" altLang="zh-HK" dirty="0" err="1"/>
              <a:t>cont</a:t>
            </a:r>
            <a:r>
              <a:rPr lang="en-US" altLang="zh-HK" dirty="0"/>
              <a:t>)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HK" dirty="0"/>
              <a:t>The following code updates the </a:t>
            </a:r>
            <a:r>
              <a:rPr lang="en-US" altLang="zh-HK" dirty="0" err="1"/>
              <a:t>src</a:t>
            </a:r>
            <a:r>
              <a:rPr lang="en-US" altLang="zh-HK" dirty="0"/>
              <a:t> attribute of the image tag (</a:t>
            </a:r>
            <a:r>
              <a:rPr lang="en-US" altLang="zh-HK" dirty="0">
                <a:hlinkClick r:id="rId2" action="ppaction://hlinkfile"/>
              </a:rPr>
              <a:t>view</a:t>
            </a:r>
            <a:r>
              <a:rPr lang="en-US" altLang="zh-HK" dirty="0"/>
              <a:t>):</a:t>
            </a:r>
          </a:p>
          <a:p>
            <a:pPr marL="365760" lvl="1" indent="0">
              <a:buNone/>
            </a:pPr>
            <a:r>
              <a:rPr lang="en-US" altLang="zh-HK" sz="2000" dirty="0">
                <a:latin typeface="Courier New" pitchFamily="49" charset="0"/>
                <a:cs typeface="Courier New" pitchFamily="49" charset="0"/>
              </a:rPr>
              <a:t>&lt;!DOCTYPE html&gt;</a:t>
            </a:r>
          </a:p>
          <a:p>
            <a:pPr marL="365760" lvl="1" indent="0">
              <a:buNone/>
            </a:pPr>
            <a:r>
              <a:rPr lang="en-US" altLang="zh-HK" sz="2000" dirty="0">
                <a:latin typeface="Courier New" pitchFamily="49" charset="0"/>
                <a:cs typeface="Courier New" pitchFamily="49" charset="0"/>
              </a:rPr>
              <a:t>&lt;html&gt;</a:t>
            </a:r>
          </a:p>
          <a:p>
            <a:pPr marL="365760" lvl="1" indent="0">
              <a:buNone/>
            </a:pPr>
            <a:r>
              <a:rPr lang="en-US" altLang="zh-HK" sz="2000" dirty="0">
                <a:latin typeface="Courier New" pitchFamily="49" charset="0"/>
                <a:cs typeface="Courier New" pitchFamily="49" charset="0"/>
              </a:rPr>
              <a:t>&lt;body&gt;</a:t>
            </a:r>
          </a:p>
          <a:p>
            <a:pPr marL="365760" lvl="1" indent="0">
              <a:buNone/>
            </a:pPr>
            <a:r>
              <a:rPr lang="en-US" altLang="zh-HK" sz="2000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HK" sz="2000" dirty="0" err="1">
                <a:latin typeface="Courier New" pitchFamily="49" charset="0"/>
                <a:cs typeface="Courier New" pitchFamily="49" charset="0"/>
              </a:rPr>
              <a:t>img</a:t>
            </a:r>
            <a:r>
              <a:rPr lang="en-US" altLang="zh-HK" sz="2000" dirty="0">
                <a:latin typeface="Courier New" pitchFamily="49" charset="0"/>
                <a:cs typeface="Courier New" pitchFamily="49" charset="0"/>
              </a:rPr>
              <a:t> id= "</a:t>
            </a:r>
            <a:r>
              <a:rPr lang="en-US" altLang="zh-HK" sz="2000" dirty="0" err="1">
                <a:latin typeface="Courier New" pitchFamily="49" charset="0"/>
                <a:cs typeface="Courier New" pitchFamily="49" charset="0"/>
              </a:rPr>
              <a:t>im</a:t>
            </a:r>
            <a:r>
              <a:rPr lang="en-US" altLang="zh-HK" sz="2000" dirty="0">
                <a:latin typeface="Courier New" pitchFamily="49" charset="0"/>
                <a:cs typeface="Courier New" pitchFamily="49" charset="0"/>
              </a:rPr>
              <a:t>" </a:t>
            </a:r>
            <a:r>
              <a:rPr lang="en-US" altLang="zh-HK" sz="2000" dirty="0" err="1">
                <a:latin typeface="Courier New" pitchFamily="49" charset="0"/>
                <a:cs typeface="Courier New" pitchFamily="49" charset="0"/>
              </a:rPr>
              <a:t>src</a:t>
            </a:r>
            <a:r>
              <a:rPr lang="en-US" altLang="zh-HK" sz="2000" dirty="0">
                <a:latin typeface="Courier New" pitchFamily="49" charset="0"/>
                <a:cs typeface="Courier New" pitchFamily="49" charset="0"/>
              </a:rPr>
              <a:t>=“image1.gif"&gt;</a:t>
            </a:r>
          </a:p>
          <a:p>
            <a:pPr marL="365760" lvl="1" indent="0">
              <a:buNone/>
            </a:pPr>
            <a:r>
              <a:rPr lang="en-US" altLang="zh-HK" sz="2000" dirty="0">
                <a:latin typeface="Courier New" pitchFamily="49" charset="0"/>
                <a:cs typeface="Courier New" pitchFamily="49" charset="0"/>
              </a:rPr>
              <a:t>&lt;script&gt;</a:t>
            </a:r>
          </a:p>
          <a:p>
            <a:pPr marL="365760" lvl="1" indent="0">
              <a:buNone/>
            </a:pPr>
            <a:r>
              <a:rPr lang="en-US" altLang="zh-HK" sz="2000" dirty="0" err="1">
                <a:latin typeface="Courier New" pitchFamily="49" charset="0"/>
                <a:cs typeface="Courier New" pitchFamily="49" charset="0"/>
              </a:rPr>
              <a:t>document.getElementById</a:t>
            </a:r>
            <a:r>
              <a:rPr lang="en-US" altLang="zh-HK" sz="2000" dirty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altLang="zh-HK" sz="2000" dirty="0" err="1">
                <a:latin typeface="Courier New" pitchFamily="49" charset="0"/>
                <a:cs typeface="Courier New" pitchFamily="49" charset="0"/>
              </a:rPr>
              <a:t>im</a:t>
            </a:r>
            <a:r>
              <a:rPr lang="en-US" altLang="zh-HK" sz="2000" dirty="0">
                <a:latin typeface="Courier New" pitchFamily="49" charset="0"/>
                <a:cs typeface="Courier New" pitchFamily="49" charset="0"/>
              </a:rPr>
              <a:t>").</a:t>
            </a:r>
            <a:r>
              <a:rPr lang="en-US" altLang="zh-HK" sz="2000" dirty="0" err="1">
                <a:latin typeface="Courier New" pitchFamily="49" charset="0"/>
                <a:cs typeface="Courier New" pitchFamily="49" charset="0"/>
              </a:rPr>
              <a:t>src</a:t>
            </a:r>
            <a:r>
              <a:rPr lang="en-US" altLang="zh-HK" sz="2000" dirty="0">
                <a:latin typeface="Courier New" pitchFamily="49" charset="0"/>
                <a:cs typeface="Courier New" pitchFamily="49" charset="0"/>
              </a:rPr>
              <a:t>=“image2.jpg";</a:t>
            </a:r>
          </a:p>
          <a:p>
            <a:pPr marL="365760" lvl="1" indent="0">
              <a:buNone/>
            </a:pPr>
            <a:r>
              <a:rPr lang="en-US" altLang="zh-HK" sz="2000" dirty="0">
                <a:latin typeface="Courier New" pitchFamily="49" charset="0"/>
                <a:cs typeface="Courier New" pitchFamily="49" charset="0"/>
              </a:rPr>
              <a:t>&lt;/script&gt;</a:t>
            </a:r>
          </a:p>
          <a:p>
            <a:pPr marL="365760" lvl="1" indent="0">
              <a:buNone/>
            </a:pPr>
            <a:r>
              <a:rPr lang="en-US" altLang="zh-HK" sz="2000" dirty="0">
                <a:latin typeface="Courier New" pitchFamily="49" charset="0"/>
                <a:cs typeface="Courier New" pitchFamily="49" charset="0"/>
              </a:rPr>
              <a:t>&lt;/body&gt;</a:t>
            </a:r>
          </a:p>
          <a:p>
            <a:pPr marL="365760" lvl="1" indent="0">
              <a:buNone/>
            </a:pPr>
            <a:r>
              <a:rPr lang="en-US" altLang="zh-HK" sz="2000" dirty="0">
                <a:latin typeface="Courier New" pitchFamily="49" charset="0"/>
                <a:cs typeface="Courier New" pitchFamily="49" charset="0"/>
              </a:rPr>
              <a:t>&lt;/html&gt;</a:t>
            </a:r>
            <a:endParaRPr lang="zh-HK" altLang="en-US" sz="20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0281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Changing CSS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HK" dirty="0"/>
              <a:t>The style of HTML elements can be changed by JavaScript:</a:t>
            </a:r>
          </a:p>
          <a:p>
            <a:pPr marL="0" indent="0">
              <a:buNone/>
            </a:pPr>
            <a:endParaRPr lang="en-US" altLang="zh-HK" sz="1800" dirty="0"/>
          </a:p>
          <a:p>
            <a:pPr marL="365760" lvl="1" indent="0">
              <a:buNone/>
            </a:pPr>
            <a:r>
              <a:rPr lang="en-US" altLang="zh-HK" sz="1600" dirty="0" err="1">
                <a:latin typeface="Courier New" pitchFamily="49" charset="0"/>
                <a:cs typeface="Courier New" pitchFamily="49" charset="0"/>
              </a:rPr>
              <a:t>document.getElementById</a:t>
            </a:r>
            <a:r>
              <a:rPr lang="en-US" altLang="zh-HK" sz="1600" dirty="0">
                <a:latin typeface="Courier New" pitchFamily="49" charset="0"/>
                <a:cs typeface="Courier New" pitchFamily="49" charset="0"/>
              </a:rPr>
              <a:t>(id).</a:t>
            </a:r>
            <a:r>
              <a:rPr lang="en-US" altLang="zh-HK" sz="1600" dirty="0" err="1">
                <a:latin typeface="Courier New" pitchFamily="49" charset="0"/>
                <a:cs typeface="Courier New" pitchFamily="49" charset="0"/>
              </a:rPr>
              <a:t>style.property</a:t>
            </a:r>
            <a:r>
              <a:rPr lang="en-US" altLang="zh-HK" sz="1600" dirty="0">
                <a:latin typeface="Courier New" pitchFamily="49" charset="0"/>
                <a:cs typeface="Courier New" pitchFamily="49" charset="0"/>
              </a:rPr>
              <a:t>=new style</a:t>
            </a:r>
          </a:p>
          <a:p>
            <a:r>
              <a:rPr lang="en-US" altLang="zh-HK" dirty="0"/>
              <a:t>The following code set the background color of the paragraph (</a:t>
            </a:r>
            <a:r>
              <a:rPr lang="en-US" altLang="zh-HK" dirty="0">
                <a:hlinkClick r:id="rId2" action="ppaction://hlinkfile"/>
              </a:rPr>
              <a:t>view</a:t>
            </a:r>
            <a:r>
              <a:rPr lang="en-US" altLang="zh-HK" dirty="0"/>
              <a:t>):</a:t>
            </a:r>
          </a:p>
          <a:p>
            <a:pPr marL="365760" lvl="1" indent="0">
              <a:buNone/>
            </a:pPr>
            <a:r>
              <a:rPr lang="en-US" altLang="zh-HK" sz="1600" dirty="0">
                <a:latin typeface="Courier New" pitchFamily="49" charset="0"/>
                <a:cs typeface="Courier New" pitchFamily="49" charset="0"/>
              </a:rPr>
              <a:t>&lt;html&gt;</a:t>
            </a:r>
          </a:p>
          <a:p>
            <a:pPr marL="365760" lvl="1" indent="0">
              <a:buNone/>
            </a:pPr>
            <a:r>
              <a:rPr lang="en-US" altLang="zh-HK" sz="1600" dirty="0">
                <a:latin typeface="Courier New" pitchFamily="49" charset="0"/>
                <a:cs typeface="Courier New" pitchFamily="49" charset="0"/>
              </a:rPr>
              <a:t>&lt;body&gt;</a:t>
            </a:r>
          </a:p>
          <a:p>
            <a:pPr marL="365760" lvl="1" indent="0">
              <a:buNone/>
            </a:pPr>
            <a:r>
              <a:rPr lang="en-US" altLang="zh-HK" sz="1600" dirty="0">
                <a:latin typeface="Courier New" pitchFamily="49" charset="0"/>
                <a:cs typeface="Courier New" pitchFamily="49" charset="0"/>
              </a:rPr>
              <a:t>&lt;p </a:t>
            </a:r>
            <a:r>
              <a:rPr lang="en-US" altLang="zh-HK" sz="1600">
                <a:latin typeface="Courier New" pitchFamily="49" charset="0"/>
                <a:cs typeface="Courier New" pitchFamily="49" charset="0"/>
              </a:rPr>
              <a:t>id="p1</a:t>
            </a:r>
            <a:r>
              <a:rPr lang="en-US" altLang="zh-HK" sz="1600" dirty="0">
                <a:latin typeface="Courier New" pitchFamily="49" charset="0"/>
                <a:cs typeface="Courier New" pitchFamily="49" charset="0"/>
              </a:rPr>
              <a:t>"&gt;Paragraph with background in red&lt;/p&gt;</a:t>
            </a:r>
          </a:p>
          <a:p>
            <a:pPr marL="365760" lvl="1" indent="0">
              <a:buNone/>
            </a:pPr>
            <a:r>
              <a:rPr lang="en-US" altLang="zh-HK" sz="1600" dirty="0">
                <a:latin typeface="Courier New" pitchFamily="49" charset="0"/>
                <a:cs typeface="Courier New" pitchFamily="49" charset="0"/>
              </a:rPr>
              <a:t>&lt;script&gt;</a:t>
            </a:r>
          </a:p>
          <a:p>
            <a:pPr marL="365760" lvl="1" indent="0">
              <a:buNone/>
            </a:pPr>
            <a:r>
              <a:rPr lang="en-US" altLang="zh-HK" sz="1600" dirty="0" err="1">
                <a:latin typeface="Courier New" pitchFamily="49" charset="0"/>
                <a:cs typeface="Courier New" pitchFamily="49" charset="0"/>
              </a:rPr>
              <a:t>document.getElementById</a:t>
            </a:r>
            <a:r>
              <a:rPr lang="en-US" altLang="zh-HK" sz="1600" dirty="0">
                <a:latin typeface="Courier New" pitchFamily="49" charset="0"/>
                <a:cs typeface="Courier New" pitchFamily="49" charset="0"/>
              </a:rPr>
              <a:t>("p1").</a:t>
            </a:r>
            <a:r>
              <a:rPr lang="en-US" altLang="zh-HK" sz="1600" dirty="0" err="1">
                <a:latin typeface="Courier New" pitchFamily="49" charset="0"/>
                <a:cs typeface="Courier New" pitchFamily="49" charset="0"/>
              </a:rPr>
              <a:t>style.background</a:t>
            </a:r>
            <a:r>
              <a:rPr lang="en-US" altLang="zh-HK" sz="1600" dirty="0">
                <a:latin typeface="Courier New" pitchFamily="49" charset="0"/>
                <a:cs typeface="Courier New" pitchFamily="49" charset="0"/>
              </a:rPr>
              <a:t>=“red";</a:t>
            </a:r>
          </a:p>
          <a:p>
            <a:pPr marL="365760" lvl="1" indent="0">
              <a:buNone/>
            </a:pPr>
            <a:r>
              <a:rPr lang="en-US" altLang="zh-HK" sz="1600" dirty="0">
                <a:latin typeface="Courier New" pitchFamily="49" charset="0"/>
                <a:cs typeface="Courier New" pitchFamily="49" charset="0"/>
              </a:rPr>
              <a:t>&lt;/script&gt;</a:t>
            </a:r>
          </a:p>
          <a:p>
            <a:pPr marL="365760" lvl="1" indent="0">
              <a:buNone/>
            </a:pPr>
            <a:r>
              <a:rPr lang="en-US" altLang="zh-HK" sz="1600" dirty="0">
                <a:latin typeface="Courier New" pitchFamily="49" charset="0"/>
                <a:cs typeface="Courier New" pitchFamily="49" charset="0"/>
              </a:rPr>
              <a:t>&lt;/body&gt;</a:t>
            </a:r>
          </a:p>
          <a:p>
            <a:pPr marL="365760" lvl="1" indent="0">
              <a:buNone/>
            </a:pPr>
            <a:r>
              <a:rPr lang="en-US" altLang="zh-HK" sz="1600" dirty="0">
                <a:latin typeface="Courier New" pitchFamily="49" charset="0"/>
                <a:cs typeface="Courier New" pitchFamily="49" charset="0"/>
              </a:rPr>
              <a:t>&lt;/html&gt;</a:t>
            </a:r>
          </a:p>
          <a:p>
            <a:endParaRPr lang="zh-HK" altLang="en-US" sz="18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0591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HTML DOM Events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HK" dirty="0" err="1"/>
              <a:t>Javascript</a:t>
            </a:r>
            <a:r>
              <a:rPr lang="en-US" altLang="zh-HK" dirty="0"/>
              <a:t> can register different event handlers on HTML elements.</a:t>
            </a:r>
          </a:p>
          <a:p>
            <a:r>
              <a:rPr lang="en-US" altLang="zh-HK" dirty="0"/>
              <a:t>Use event attributes to register event handlers on HTML elements. For example, the following code register an event handler when the paragraph element is clicked (</a:t>
            </a:r>
            <a:r>
              <a:rPr lang="en-US" altLang="zh-HK" dirty="0">
                <a:hlinkClick r:id="rId2" action="ppaction://hlinkfile"/>
              </a:rPr>
              <a:t>view</a:t>
            </a:r>
            <a:r>
              <a:rPr lang="en-US" altLang="zh-HK" dirty="0"/>
              <a:t>):</a:t>
            </a:r>
          </a:p>
          <a:p>
            <a:pPr marL="365760" lvl="1" indent="0">
              <a:buNone/>
            </a:pPr>
            <a:r>
              <a:rPr lang="en-US" altLang="zh-HK" sz="2100" dirty="0">
                <a:latin typeface="Courier New" pitchFamily="49" charset="0"/>
                <a:cs typeface="Courier New" pitchFamily="49" charset="0"/>
              </a:rPr>
              <a:t>&lt;!DOCTYPE html&gt;</a:t>
            </a:r>
          </a:p>
          <a:p>
            <a:pPr marL="365760" lvl="1" indent="0">
              <a:buNone/>
            </a:pPr>
            <a:r>
              <a:rPr lang="en-US" altLang="zh-HK" sz="2100" dirty="0">
                <a:latin typeface="Courier New" pitchFamily="49" charset="0"/>
                <a:cs typeface="Courier New" pitchFamily="49" charset="0"/>
              </a:rPr>
              <a:t>&lt;html&gt;</a:t>
            </a:r>
          </a:p>
          <a:p>
            <a:pPr marL="365760" lvl="1" indent="0">
              <a:buNone/>
            </a:pPr>
            <a:r>
              <a:rPr lang="en-US" altLang="zh-HK" sz="2100" dirty="0">
                <a:latin typeface="Courier New" pitchFamily="49" charset="0"/>
                <a:cs typeface="Courier New" pitchFamily="49" charset="0"/>
              </a:rPr>
              <a:t>&lt;body&gt;</a:t>
            </a:r>
          </a:p>
          <a:p>
            <a:pPr marL="365760" lvl="1" indent="0">
              <a:buNone/>
            </a:pPr>
            <a:r>
              <a:rPr lang="en-US" altLang="zh-HK" sz="2100" dirty="0">
                <a:latin typeface="Courier New" pitchFamily="49" charset="0"/>
                <a:cs typeface="Courier New" pitchFamily="49" charset="0"/>
              </a:rPr>
              <a:t>&lt;p </a:t>
            </a:r>
            <a:r>
              <a:rPr lang="en-US" altLang="zh-HK" sz="2100" dirty="0" err="1">
                <a:latin typeface="Courier New" pitchFamily="49" charset="0"/>
                <a:cs typeface="Courier New" pitchFamily="49" charset="0"/>
              </a:rPr>
              <a:t>onclick</a:t>
            </a:r>
            <a:r>
              <a:rPr lang="en-US" altLang="zh-HK" sz="2100" dirty="0">
                <a:latin typeface="Courier New" pitchFamily="49" charset="0"/>
                <a:cs typeface="Courier New" pitchFamily="49" charset="0"/>
              </a:rPr>
              <a:t>="</a:t>
            </a:r>
            <a:r>
              <a:rPr lang="en-US" altLang="zh-HK" sz="2100" dirty="0" err="1">
                <a:latin typeface="Courier New" pitchFamily="49" charset="0"/>
                <a:cs typeface="Courier New" pitchFamily="49" charset="0"/>
              </a:rPr>
              <a:t>this.style.background</a:t>
            </a:r>
            <a:r>
              <a:rPr lang="en-US" altLang="zh-HK" sz="2100" dirty="0">
                <a:latin typeface="Courier New" pitchFamily="49" charset="0"/>
                <a:cs typeface="Courier New" pitchFamily="49" charset="0"/>
              </a:rPr>
              <a:t>='red'"&gt;Click here to turn the background in red!&lt;/p&gt;</a:t>
            </a:r>
          </a:p>
          <a:p>
            <a:pPr marL="365760" lvl="1" indent="0">
              <a:buNone/>
            </a:pPr>
            <a:r>
              <a:rPr lang="en-US" altLang="zh-HK" sz="2100" dirty="0">
                <a:latin typeface="Courier New" pitchFamily="49" charset="0"/>
                <a:cs typeface="Courier New" pitchFamily="49" charset="0"/>
              </a:rPr>
              <a:t>&lt;/body&gt;</a:t>
            </a:r>
          </a:p>
          <a:p>
            <a:pPr marL="365760" lvl="1" indent="0">
              <a:buNone/>
            </a:pPr>
            <a:r>
              <a:rPr lang="en-US" altLang="zh-HK" sz="2100" dirty="0">
                <a:latin typeface="Courier New" pitchFamily="49" charset="0"/>
                <a:cs typeface="Courier New" pitchFamily="49" charset="0"/>
              </a:rPr>
              <a:t>&lt;/html&gt;</a:t>
            </a:r>
            <a:endParaRPr lang="zh-HK" altLang="en-US" sz="21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481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HTML DOM Events (</a:t>
            </a:r>
            <a:r>
              <a:rPr lang="en-US" altLang="zh-HK" dirty="0" err="1"/>
              <a:t>cont</a:t>
            </a:r>
            <a:r>
              <a:rPr lang="en-US" altLang="zh-HK" dirty="0"/>
              <a:t>)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zh-HK" sz="8000" dirty="0"/>
              <a:t>The </a:t>
            </a:r>
            <a:r>
              <a:rPr lang="en-US" altLang="zh-HK" sz="7200" dirty="0" err="1">
                <a:latin typeface="Courier New" pitchFamily="49" charset="0"/>
                <a:cs typeface="Courier New" pitchFamily="49" charset="0"/>
              </a:rPr>
              <a:t>onchange</a:t>
            </a:r>
            <a:r>
              <a:rPr lang="en-US" altLang="zh-HK" sz="8000" dirty="0"/>
              <a:t> event is useful for validating the data after the user enters the required data in &lt;</a:t>
            </a:r>
            <a:r>
              <a:rPr lang="en-US" altLang="zh-HK" sz="8000" dirty="0">
                <a:latin typeface="Courier New" pitchFamily="49" charset="0"/>
                <a:cs typeface="Courier New" pitchFamily="49" charset="0"/>
              </a:rPr>
              <a:t>input</a:t>
            </a:r>
            <a:r>
              <a:rPr lang="en-US" altLang="zh-HK" sz="8000" dirty="0"/>
              <a:t>&gt;, &lt;</a:t>
            </a:r>
            <a:r>
              <a:rPr lang="en-US" altLang="zh-HK" sz="8000" dirty="0"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altLang="zh-HK" sz="8000" dirty="0"/>
              <a:t>&gt;, and &lt;</a:t>
            </a:r>
            <a:r>
              <a:rPr lang="en-US" altLang="zh-HK" sz="8000" dirty="0" err="1">
                <a:latin typeface="Courier New" pitchFamily="49" charset="0"/>
                <a:cs typeface="Courier New" pitchFamily="49" charset="0"/>
              </a:rPr>
              <a:t>textarea</a:t>
            </a:r>
            <a:r>
              <a:rPr lang="en-US" altLang="zh-HK" sz="8000" dirty="0"/>
              <a:t>&gt; elements.  The following code illustrates the </a:t>
            </a:r>
            <a:r>
              <a:rPr lang="en-US" altLang="zh-HK" sz="8000" dirty="0" err="1">
                <a:latin typeface="Courier New" pitchFamily="49" charset="0"/>
                <a:cs typeface="Courier New" pitchFamily="49" charset="0"/>
              </a:rPr>
              <a:t>onchange</a:t>
            </a:r>
            <a:r>
              <a:rPr lang="en-US" altLang="zh-HK" sz="8000" dirty="0"/>
              <a:t> events (</a:t>
            </a:r>
            <a:r>
              <a:rPr lang="en-US" altLang="zh-HK" sz="8000" dirty="0">
                <a:hlinkClick r:id="rId2" action="ppaction://hlinkfile"/>
              </a:rPr>
              <a:t>view</a:t>
            </a:r>
            <a:r>
              <a:rPr lang="en-US" altLang="zh-HK" sz="8000" dirty="0"/>
              <a:t>).</a:t>
            </a:r>
          </a:p>
          <a:p>
            <a:pPr marL="0" indent="0">
              <a:buNone/>
            </a:pPr>
            <a:endParaRPr lang="en-US" altLang="zh-HK" sz="33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altLang="zh-HK" sz="7200" dirty="0">
                <a:latin typeface="Courier New" pitchFamily="49" charset="0"/>
                <a:cs typeface="Courier New" pitchFamily="49" charset="0"/>
              </a:rPr>
              <a:t>&lt;body&gt;</a:t>
            </a:r>
          </a:p>
          <a:p>
            <a:pPr marL="0" indent="0">
              <a:buNone/>
            </a:pPr>
            <a:r>
              <a:rPr lang="en-US" altLang="zh-HK" sz="7200" dirty="0">
                <a:latin typeface="Courier New" pitchFamily="49" charset="0"/>
                <a:cs typeface="Courier New" pitchFamily="49" charset="0"/>
              </a:rPr>
              <a:t>Enter a country name: &lt;input type="text" id="</a:t>
            </a:r>
            <a:r>
              <a:rPr lang="en-US" altLang="zh-HK" sz="7200" dirty="0" err="1">
                <a:latin typeface="Courier New" pitchFamily="49" charset="0"/>
                <a:cs typeface="Courier New" pitchFamily="49" charset="0"/>
              </a:rPr>
              <a:t>cn</a:t>
            </a:r>
            <a:r>
              <a:rPr lang="en-US" altLang="zh-HK" sz="7200" dirty="0">
                <a:latin typeface="Courier New" pitchFamily="49" charset="0"/>
                <a:cs typeface="Courier New" pitchFamily="49" charset="0"/>
              </a:rPr>
              <a:t>" </a:t>
            </a:r>
            <a:r>
              <a:rPr lang="en-US" altLang="zh-HK" sz="7200" dirty="0" err="1">
                <a:latin typeface="Courier New" pitchFamily="49" charset="0"/>
                <a:cs typeface="Courier New" pitchFamily="49" charset="0"/>
              </a:rPr>
              <a:t>onchange</a:t>
            </a:r>
            <a:r>
              <a:rPr lang="en-US" altLang="zh-HK" sz="7200" dirty="0">
                <a:latin typeface="Courier New" pitchFamily="49" charset="0"/>
                <a:cs typeface="Courier New" pitchFamily="49" charset="0"/>
              </a:rPr>
              <a:t>="change()"&gt;</a:t>
            </a:r>
          </a:p>
          <a:p>
            <a:pPr marL="0" indent="0">
              <a:buNone/>
            </a:pPr>
            <a:r>
              <a:rPr lang="en-US" altLang="zh-HK" sz="7200" dirty="0">
                <a:latin typeface="Courier New" pitchFamily="49" charset="0"/>
                <a:cs typeface="Courier New" pitchFamily="49" charset="0"/>
              </a:rPr>
              <a:t>&lt;script&gt;</a:t>
            </a:r>
          </a:p>
          <a:p>
            <a:pPr marL="0" indent="0">
              <a:buNone/>
            </a:pPr>
            <a:r>
              <a:rPr lang="en-US" altLang="zh-HK" sz="7200" dirty="0">
                <a:latin typeface="Courier New" pitchFamily="49" charset="0"/>
                <a:cs typeface="Courier New" pitchFamily="49" charset="0"/>
              </a:rPr>
              <a:t>// called when the user leaves the input field</a:t>
            </a:r>
          </a:p>
          <a:p>
            <a:pPr marL="0" indent="0">
              <a:buNone/>
            </a:pPr>
            <a:r>
              <a:rPr lang="en-US" altLang="zh-HK" sz="7200" dirty="0">
                <a:latin typeface="Courier New" pitchFamily="49" charset="0"/>
                <a:cs typeface="Courier New" pitchFamily="49" charset="0"/>
              </a:rPr>
              <a:t>function change() { </a:t>
            </a:r>
          </a:p>
          <a:p>
            <a:pPr marL="0" indent="0">
              <a:buNone/>
            </a:pPr>
            <a:r>
              <a:rPr lang="en-US" altLang="zh-HK" sz="72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HK" sz="7200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HK" sz="7200" dirty="0">
                <a:latin typeface="Courier New" pitchFamily="49" charset="0"/>
                <a:cs typeface="Courier New" pitchFamily="49" charset="0"/>
              </a:rPr>
              <a:t> e=</a:t>
            </a:r>
            <a:r>
              <a:rPr lang="en-US" altLang="zh-HK" sz="7200" dirty="0" err="1">
                <a:latin typeface="Courier New" pitchFamily="49" charset="0"/>
                <a:cs typeface="Courier New" pitchFamily="49" charset="0"/>
              </a:rPr>
              <a:t>document.getElementById</a:t>
            </a:r>
            <a:r>
              <a:rPr lang="en-US" altLang="zh-HK" sz="7200" dirty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altLang="zh-HK" sz="7200" dirty="0" err="1">
                <a:latin typeface="Courier New" pitchFamily="49" charset="0"/>
                <a:cs typeface="Courier New" pitchFamily="49" charset="0"/>
              </a:rPr>
              <a:t>cn</a:t>
            </a:r>
            <a:r>
              <a:rPr lang="en-US" altLang="zh-HK" sz="7200" dirty="0">
                <a:latin typeface="Courier New" pitchFamily="49" charset="0"/>
                <a:cs typeface="Courier New" pitchFamily="49" charset="0"/>
              </a:rPr>
              <a:t>");</a:t>
            </a:r>
          </a:p>
          <a:p>
            <a:pPr marL="0" indent="0">
              <a:buNone/>
            </a:pPr>
            <a:r>
              <a:rPr lang="en-US" altLang="zh-HK" sz="72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HK" sz="7200" dirty="0" err="1">
                <a:latin typeface="Courier New" pitchFamily="49" charset="0"/>
                <a:cs typeface="Courier New" pitchFamily="49" charset="0"/>
              </a:rPr>
              <a:t>e.value</a:t>
            </a:r>
            <a:r>
              <a:rPr lang="en-US" altLang="zh-HK" sz="7200" dirty="0">
                <a:latin typeface="Courier New" pitchFamily="49" charset="0"/>
                <a:cs typeface="Courier New" pitchFamily="49" charset="0"/>
              </a:rPr>
              <a:t>=</a:t>
            </a:r>
            <a:r>
              <a:rPr lang="en-US" altLang="zh-HK" sz="7200" dirty="0" err="1">
                <a:latin typeface="Courier New" pitchFamily="49" charset="0"/>
                <a:cs typeface="Courier New" pitchFamily="49" charset="0"/>
              </a:rPr>
              <a:t>e.value.toUpperCase</a:t>
            </a:r>
            <a:r>
              <a:rPr lang="en-US" altLang="zh-HK" sz="720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0" indent="0">
              <a:buNone/>
            </a:pPr>
            <a:r>
              <a:rPr lang="en-US" altLang="zh-HK" sz="72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None/>
            </a:pPr>
            <a:r>
              <a:rPr lang="en-US" altLang="zh-HK" sz="7200" dirty="0">
                <a:latin typeface="Courier New" pitchFamily="49" charset="0"/>
                <a:cs typeface="Courier New" pitchFamily="49" charset="0"/>
              </a:rPr>
              <a:t>&lt;/script&gt;</a:t>
            </a:r>
          </a:p>
          <a:p>
            <a:pPr marL="0" indent="0">
              <a:buNone/>
            </a:pPr>
            <a:r>
              <a:rPr lang="en-US" altLang="zh-HK" sz="7200" dirty="0">
                <a:latin typeface="Courier New" pitchFamily="49" charset="0"/>
                <a:cs typeface="Courier New" pitchFamily="49" charset="0"/>
              </a:rPr>
              <a:t>&lt;/body&gt;</a:t>
            </a:r>
            <a:endParaRPr lang="zh-HK" altLang="en-US" sz="7200" dirty="0"/>
          </a:p>
        </p:txBody>
      </p:sp>
    </p:spTree>
    <p:extLst>
      <p:ext uri="{BB962C8B-B14F-4D97-AF65-F5344CB8AC3E}">
        <p14:creationId xmlns:p14="http://schemas.microsoft.com/office/powerpoint/2010/main" val="763617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HTML DOM Events (</a:t>
            </a:r>
            <a:r>
              <a:rPr lang="en-US" altLang="zh-HK" dirty="0" err="1"/>
              <a:t>cont</a:t>
            </a:r>
            <a:r>
              <a:rPr lang="en-US" altLang="zh-HK" dirty="0"/>
              <a:t>)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zh-HK" sz="2900" dirty="0"/>
              <a:t>The following code illustrates the </a:t>
            </a:r>
            <a:r>
              <a:rPr lang="en-US" altLang="zh-HK" sz="2900" dirty="0" err="1">
                <a:latin typeface="Courier New" pitchFamily="49" charset="0"/>
                <a:cs typeface="Courier New" pitchFamily="49" charset="0"/>
              </a:rPr>
              <a:t>onmouseover</a:t>
            </a:r>
            <a:r>
              <a:rPr lang="en-US" altLang="zh-HK" sz="2900" dirty="0"/>
              <a:t> and </a:t>
            </a:r>
            <a:r>
              <a:rPr lang="en-US" altLang="zh-HK" sz="2900" dirty="0" err="1">
                <a:latin typeface="Courier New" pitchFamily="49" charset="0"/>
                <a:cs typeface="Courier New" pitchFamily="49" charset="0"/>
              </a:rPr>
              <a:t>onmouseout</a:t>
            </a:r>
            <a:r>
              <a:rPr lang="en-US" altLang="zh-HK" sz="2900" dirty="0"/>
              <a:t> events (</a:t>
            </a:r>
            <a:r>
              <a:rPr lang="en-US" altLang="zh-HK" sz="2900" dirty="0">
                <a:hlinkClick r:id="rId2" action="ppaction://hlinkfile"/>
              </a:rPr>
              <a:t>view</a:t>
            </a:r>
            <a:r>
              <a:rPr lang="en-US" altLang="zh-HK" sz="2900" dirty="0"/>
              <a:t>):</a:t>
            </a:r>
          </a:p>
          <a:p>
            <a:pPr marL="393192" lvl="1" indent="0">
              <a:buNone/>
            </a:pPr>
            <a:r>
              <a:rPr lang="en-US" altLang="zh-HK" sz="2600" dirty="0">
                <a:latin typeface="Courier New" pitchFamily="49" charset="0"/>
                <a:cs typeface="Courier New" pitchFamily="49" charset="0"/>
              </a:rPr>
              <a:t>&lt;div </a:t>
            </a:r>
            <a:r>
              <a:rPr lang="en-US" altLang="zh-HK" sz="2600" dirty="0" err="1">
                <a:latin typeface="Courier New" pitchFamily="49" charset="0"/>
                <a:cs typeface="Courier New" pitchFamily="49" charset="0"/>
              </a:rPr>
              <a:t>onmouseover</a:t>
            </a:r>
            <a:r>
              <a:rPr lang="en-US" altLang="zh-HK" sz="2600" dirty="0">
                <a:latin typeface="Courier New" pitchFamily="49" charset="0"/>
                <a:cs typeface="Courier New" pitchFamily="49" charset="0"/>
              </a:rPr>
              <a:t>="mi(this)" </a:t>
            </a:r>
            <a:r>
              <a:rPr lang="en-US" altLang="zh-HK" sz="2600" dirty="0" err="1">
                <a:latin typeface="Courier New" pitchFamily="49" charset="0"/>
                <a:cs typeface="Courier New" pitchFamily="49" charset="0"/>
              </a:rPr>
              <a:t>onmouseout</a:t>
            </a:r>
            <a:r>
              <a:rPr lang="en-US" altLang="zh-HK" sz="2600" dirty="0">
                <a:latin typeface="Courier New" pitchFamily="49" charset="0"/>
                <a:cs typeface="Courier New" pitchFamily="49" charset="0"/>
              </a:rPr>
              <a:t>="</a:t>
            </a:r>
            <a:r>
              <a:rPr lang="en-US" altLang="zh-HK" sz="2600" dirty="0" err="1">
                <a:latin typeface="Courier New" pitchFamily="49" charset="0"/>
                <a:cs typeface="Courier New" pitchFamily="49" charset="0"/>
              </a:rPr>
              <a:t>mo</a:t>
            </a:r>
            <a:r>
              <a:rPr lang="en-US" altLang="zh-HK" sz="2600" dirty="0">
                <a:latin typeface="Courier New" pitchFamily="49" charset="0"/>
                <a:cs typeface="Courier New" pitchFamily="49" charset="0"/>
              </a:rPr>
              <a:t>(this)" style="border-style:solid;border-width:1px;background:red;width:100px;height:50px;"&gt;Mouse out&lt;/div&gt;</a:t>
            </a:r>
          </a:p>
          <a:p>
            <a:pPr marL="393192" lvl="1" indent="0">
              <a:buNone/>
            </a:pPr>
            <a:r>
              <a:rPr lang="en-US" altLang="zh-HK" sz="2600" dirty="0">
                <a:latin typeface="Courier New" pitchFamily="49" charset="0"/>
                <a:cs typeface="Courier New" pitchFamily="49" charset="0"/>
              </a:rPr>
              <a:t>&lt;script&gt;</a:t>
            </a:r>
          </a:p>
          <a:p>
            <a:pPr marL="393192" lvl="1" indent="0">
              <a:buNone/>
            </a:pPr>
            <a:r>
              <a:rPr lang="en-US" altLang="zh-HK" sz="2600" dirty="0">
                <a:latin typeface="Courier New" pitchFamily="49" charset="0"/>
                <a:cs typeface="Courier New" pitchFamily="49" charset="0"/>
              </a:rPr>
              <a:t>function mi(element) // called when the mouse is over</a:t>
            </a:r>
          </a:p>
          <a:p>
            <a:pPr marL="393192" lvl="1" indent="0">
              <a:buNone/>
            </a:pPr>
            <a:r>
              <a:rPr lang="en-US" altLang="zh-HK" sz="26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393192" lvl="1" indent="0">
              <a:buNone/>
            </a:pPr>
            <a:r>
              <a:rPr lang="en-US" altLang="zh-HK" sz="26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HK" sz="2600" dirty="0" err="1">
                <a:latin typeface="Courier New" pitchFamily="49" charset="0"/>
                <a:cs typeface="Courier New" pitchFamily="49" charset="0"/>
              </a:rPr>
              <a:t>element.innerHTML</a:t>
            </a:r>
            <a:r>
              <a:rPr lang="en-US" altLang="zh-HK" sz="2600" dirty="0">
                <a:latin typeface="Courier New" pitchFamily="49" charset="0"/>
                <a:cs typeface="Courier New" pitchFamily="49" charset="0"/>
              </a:rPr>
              <a:t>="Mouse in";</a:t>
            </a:r>
          </a:p>
          <a:p>
            <a:pPr marL="393192" lvl="1" indent="0">
              <a:buNone/>
            </a:pPr>
            <a:r>
              <a:rPr lang="en-US" altLang="zh-HK" sz="26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HK" sz="2600" dirty="0" err="1">
                <a:latin typeface="Courier New" pitchFamily="49" charset="0"/>
                <a:cs typeface="Courier New" pitchFamily="49" charset="0"/>
              </a:rPr>
              <a:t>element.style.background</a:t>
            </a:r>
            <a:r>
              <a:rPr lang="en-US" altLang="zh-HK" sz="2600" dirty="0">
                <a:latin typeface="Courier New" pitchFamily="49" charset="0"/>
                <a:cs typeface="Courier New" pitchFamily="49" charset="0"/>
              </a:rPr>
              <a:t>="green";</a:t>
            </a:r>
          </a:p>
          <a:p>
            <a:pPr marL="393192" lvl="1" indent="0">
              <a:buNone/>
            </a:pPr>
            <a:r>
              <a:rPr lang="en-US" altLang="zh-HK" sz="26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393192" lvl="1" indent="0">
              <a:buNone/>
            </a:pPr>
            <a:r>
              <a:rPr lang="en-US" altLang="zh-HK" sz="2600" dirty="0">
                <a:latin typeface="Courier New" pitchFamily="49" charset="0"/>
                <a:cs typeface="Courier New" pitchFamily="49" charset="0"/>
              </a:rPr>
              <a:t>function </a:t>
            </a:r>
            <a:r>
              <a:rPr lang="en-US" altLang="zh-HK" sz="2600" dirty="0" err="1">
                <a:latin typeface="Courier New" pitchFamily="49" charset="0"/>
                <a:cs typeface="Courier New" pitchFamily="49" charset="0"/>
              </a:rPr>
              <a:t>mo</a:t>
            </a:r>
            <a:r>
              <a:rPr lang="en-US" altLang="zh-HK" sz="2600" dirty="0">
                <a:latin typeface="Courier New" pitchFamily="49" charset="0"/>
                <a:cs typeface="Courier New" pitchFamily="49" charset="0"/>
              </a:rPr>
              <a:t>(element) // called when the mouse is out</a:t>
            </a:r>
          </a:p>
          <a:p>
            <a:pPr marL="393192" lvl="1" indent="0">
              <a:buNone/>
            </a:pPr>
            <a:r>
              <a:rPr lang="en-US" altLang="zh-HK" sz="26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393192" lvl="1" indent="0">
              <a:buNone/>
            </a:pPr>
            <a:r>
              <a:rPr lang="en-US" altLang="zh-HK" sz="26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HK" sz="2600" dirty="0" err="1">
                <a:latin typeface="Courier New" pitchFamily="49" charset="0"/>
                <a:cs typeface="Courier New" pitchFamily="49" charset="0"/>
              </a:rPr>
              <a:t>element.innerHTML</a:t>
            </a:r>
            <a:r>
              <a:rPr lang="en-US" altLang="zh-HK" sz="2600" dirty="0">
                <a:latin typeface="Courier New" pitchFamily="49" charset="0"/>
                <a:cs typeface="Courier New" pitchFamily="49" charset="0"/>
              </a:rPr>
              <a:t>="Mouse out"</a:t>
            </a:r>
          </a:p>
          <a:p>
            <a:pPr marL="393192" lvl="1" indent="0">
              <a:buNone/>
            </a:pPr>
            <a:r>
              <a:rPr lang="en-US" altLang="zh-HK" sz="26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HK" sz="2600" dirty="0" err="1">
                <a:latin typeface="Courier New" pitchFamily="49" charset="0"/>
                <a:cs typeface="Courier New" pitchFamily="49" charset="0"/>
              </a:rPr>
              <a:t>element.style.background</a:t>
            </a:r>
            <a:r>
              <a:rPr lang="en-US" altLang="zh-HK" sz="2600" dirty="0">
                <a:latin typeface="Courier New" pitchFamily="49" charset="0"/>
                <a:cs typeface="Courier New" pitchFamily="49" charset="0"/>
              </a:rPr>
              <a:t>="red";</a:t>
            </a:r>
          </a:p>
          <a:p>
            <a:pPr marL="393192" lvl="1" indent="0">
              <a:buNone/>
            </a:pPr>
            <a:r>
              <a:rPr lang="en-US" altLang="zh-HK" sz="26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393192" lvl="1" indent="0">
              <a:buNone/>
            </a:pPr>
            <a:r>
              <a:rPr lang="en-US" altLang="zh-HK" sz="2600" dirty="0">
                <a:latin typeface="Courier New" pitchFamily="49" charset="0"/>
                <a:cs typeface="Courier New" pitchFamily="49" charset="0"/>
              </a:rPr>
              <a:t>&lt;/script&gt;</a:t>
            </a:r>
            <a:endParaRPr lang="zh-HK" altLang="en-US" sz="26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454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HTML DOM Events (</a:t>
            </a:r>
            <a:r>
              <a:rPr lang="en-US" altLang="zh-HK" dirty="0" err="1"/>
              <a:t>cont</a:t>
            </a:r>
            <a:r>
              <a:rPr lang="en-US" altLang="zh-HK" dirty="0"/>
              <a:t>)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zh-HK" sz="2300" dirty="0"/>
              <a:t>The following code illustrates the </a:t>
            </a:r>
            <a:r>
              <a:rPr lang="en-US" altLang="zh-HK" sz="2300" dirty="0" err="1">
                <a:latin typeface="Courier New" pitchFamily="49" charset="0"/>
                <a:cs typeface="Courier New" pitchFamily="49" charset="0"/>
              </a:rPr>
              <a:t>onmousedown</a:t>
            </a:r>
            <a:r>
              <a:rPr lang="en-US" altLang="zh-HK" sz="2300" dirty="0"/>
              <a:t> and </a:t>
            </a:r>
            <a:r>
              <a:rPr lang="en-US" altLang="zh-HK" sz="2300" dirty="0" err="1">
                <a:latin typeface="Courier New" pitchFamily="49" charset="0"/>
                <a:cs typeface="Courier New" pitchFamily="49" charset="0"/>
              </a:rPr>
              <a:t>onmouseup</a:t>
            </a:r>
            <a:r>
              <a:rPr lang="en-US" altLang="zh-HK" sz="2300" dirty="0"/>
              <a:t> events (</a:t>
            </a:r>
            <a:r>
              <a:rPr lang="en-US" altLang="zh-HK" sz="2300" dirty="0">
                <a:hlinkClick r:id="rId2" action="ppaction://hlinkfile"/>
              </a:rPr>
              <a:t>view</a:t>
            </a:r>
            <a:r>
              <a:rPr lang="en-US" altLang="zh-HK" sz="2300" dirty="0"/>
              <a:t>):</a:t>
            </a:r>
          </a:p>
          <a:p>
            <a:pPr marL="0" indent="0">
              <a:buNone/>
            </a:pPr>
            <a:r>
              <a:rPr lang="en-US" altLang="zh-HK" sz="2000" dirty="0">
                <a:latin typeface="Courier New" pitchFamily="49" charset="0"/>
                <a:cs typeface="Courier New" pitchFamily="49" charset="0"/>
              </a:rPr>
              <a:t>&lt;div </a:t>
            </a:r>
            <a:r>
              <a:rPr lang="en-US" altLang="zh-HK" sz="2000" dirty="0" err="1">
                <a:latin typeface="Courier New" pitchFamily="49" charset="0"/>
                <a:cs typeface="Courier New" pitchFamily="49" charset="0"/>
              </a:rPr>
              <a:t>onmousedown</a:t>
            </a:r>
            <a:r>
              <a:rPr lang="en-US" altLang="zh-HK" sz="2000" dirty="0">
                <a:latin typeface="Courier New" pitchFamily="49" charset="0"/>
                <a:cs typeface="Courier New" pitchFamily="49" charset="0"/>
              </a:rPr>
              <a:t>="md(this)" </a:t>
            </a:r>
            <a:r>
              <a:rPr lang="en-US" altLang="zh-HK" sz="2000" dirty="0" err="1">
                <a:latin typeface="Courier New" pitchFamily="49" charset="0"/>
                <a:cs typeface="Courier New" pitchFamily="49" charset="0"/>
              </a:rPr>
              <a:t>onmouseup</a:t>
            </a:r>
            <a:r>
              <a:rPr lang="en-US" altLang="zh-HK" sz="2000" dirty="0">
                <a:latin typeface="Courier New" pitchFamily="49" charset="0"/>
                <a:cs typeface="Courier New" pitchFamily="49" charset="0"/>
              </a:rPr>
              <a:t>="mu(this)" style="border-style:solid;border-width:1px;background:red;width:100px;height:50px;"&gt;Press Me!&lt;/div&gt;</a:t>
            </a:r>
          </a:p>
          <a:p>
            <a:pPr marL="0" indent="0">
              <a:buNone/>
            </a:pPr>
            <a:r>
              <a:rPr lang="en-US" altLang="zh-HK" sz="2000" dirty="0">
                <a:latin typeface="Courier New" pitchFamily="49" charset="0"/>
                <a:cs typeface="Courier New" pitchFamily="49" charset="0"/>
              </a:rPr>
              <a:t>&lt;script&gt;</a:t>
            </a:r>
          </a:p>
          <a:p>
            <a:pPr marL="0" indent="0">
              <a:buNone/>
            </a:pPr>
            <a:r>
              <a:rPr lang="en-US" altLang="zh-HK" sz="2000" dirty="0">
                <a:latin typeface="Courier New" pitchFamily="49" charset="0"/>
                <a:cs typeface="Courier New" pitchFamily="49" charset="0"/>
              </a:rPr>
              <a:t>function md(element)</a:t>
            </a:r>
          </a:p>
          <a:p>
            <a:pPr marL="0" indent="0">
              <a:buNone/>
            </a:pPr>
            <a:r>
              <a:rPr lang="en-US" altLang="zh-HK" sz="20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zh-HK" sz="20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HK" sz="2000" dirty="0" err="1">
                <a:latin typeface="Courier New" pitchFamily="49" charset="0"/>
                <a:cs typeface="Courier New" pitchFamily="49" charset="0"/>
              </a:rPr>
              <a:t>element.innerHTML</a:t>
            </a:r>
            <a:r>
              <a:rPr lang="en-US" altLang="zh-HK" sz="2000" dirty="0">
                <a:latin typeface="Courier New" pitchFamily="49" charset="0"/>
                <a:cs typeface="Courier New" pitchFamily="49" charset="0"/>
              </a:rPr>
              <a:t>="Mouse down";</a:t>
            </a:r>
          </a:p>
          <a:p>
            <a:pPr marL="0" indent="0">
              <a:buNone/>
            </a:pPr>
            <a:r>
              <a:rPr lang="en-US" altLang="zh-HK" sz="20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HK" sz="2000" dirty="0" err="1">
                <a:latin typeface="Courier New" pitchFamily="49" charset="0"/>
                <a:cs typeface="Courier New" pitchFamily="49" charset="0"/>
              </a:rPr>
              <a:t>element.style.background</a:t>
            </a:r>
            <a:r>
              <a:rPr lang="en-US" altLang="zh-HK" sz="2000" dirty="0">
                <a:latin typeface="Courier New" pitchFamily="49" charset="0"/>
                <a:cs typeface="Courier New" pitchFamily="49" charset="0"/>
              </a:rPr>
              <a:t>="green";</a:t>
            </a:r>
          </a:p>
          <a:p>
            <a:pPr marL="0" indent="0">
              <a:buNone/>
            </a:pPr>
            <a:r>
              <a:rPr lang="en-US" altLang="zh-HK" sz="20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None/>
            </a:pPr>
            <a:endParaRPr lang="en-US" altLang="zh-HK" sz="20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altLang="zh-HK" sz="2000" dirty="0">
                <a:latin typeface="Courier New" pitchFamily="49" charset="0"/>
                <a:cs typeface="Courier New" pitchFamily="49" charset="0"/>
              </a:rPr>
              <a:t>function mu(element)</a:t>
            </a:r>
          </a:p>
          <a:p>
            <a:pPr marL="0" indent="0">
              <a:buNone/>
            </a:pPr>
            <a:r>
              <a:rPr lang="en-US" altLang="zh-HK" sz="20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zh-HK" sz="20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HK" sz="2000" dirty="0" err="1">
                <a:latin typeface="Courier New" pitchFamily="49" charset="0"/>
                <a:cs typeface="Courier New" pitchFamily="49" charset="0"/>
              </a:rPr>
              <a:t>element.innerHTML</a:t>
            </a:r>
            <a:r>
              <a:rPr lang="en-US" altLang="zh-HK" sz="2000" dirty="0">
                <a:latin typeface="Courier New" pitchFamily="49" charset="0"/>
                <a:cs typeface="Courier New" pitchFamily="49" charset="0"/>
              </a:rPr>
              <a:t>="Mouse Up"</a:t>
            </a:r>
          </a:p>
          <a:p>
            <a:pPr marL="0" indent="0">
              <a:buNone/>
            </a:pPr>
            <a:r>
              <a:rPr lang="en-US" altLang="zh-HK" sz="20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HK" sz="2000" dirty="0" err="1">
                <a:latin typeface="Courier New" pitchFamily="49" charset="0"/>
                <a:cs typeface="Courier New" pitchFamily="49" charset="0"/>
              </a:rPr>
              <a:t>element.style.background</a:t>
            </a:r>
            <a:r>
              <a:rPr lang="en-US" altLang="zh-HK" sz="2000" dirty="0">
                <a:latin typeface="Courier New" pitchFamily="49" charset="0"/>
                <a:cs typeface="Courier New" pitchFamily="49" charset="0"/>
              </a:rPr>
              <a:t>="red";</a:t>
            </a:r>
          </a:p>
          <a:p>
            <a:pPr marL="0" indent="0">
              <a:buNone/>
            </a:pPr>
            <a:r>
              <a:rPr lang="en-US" altLang="zh-HK" sz="20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None/>
            </a:pPr>
            <a:r>
              <a:rPr lang="en-US" altLang="zh-HK" sz="2000" dirty="0">
                <a:latin typeface="Courier New" pitchFamily="49" charset="0"/>
                <a:cs typeface="Courier New" pitchFamily="49" charset="0"/>
              </a:rPr>
              <a:t>&lt;/script&gt;</a:t>
            </a:r>
          </a:p>
          <a:p>
            <a:pPr marL="0" indent="0">
              <a:buNone/>
            </a:pP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2107974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K" dirty="0"/>
              <a:t>Adding (HTML Elements)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altLang="zh-HK" sz="3200" dirty="0"/>
              <a:t>HTML elements can be dynamically created and appended to existing element (</a:t>
            </a:r>
            <a:r>
              <a:rPr lang="en-US" altLang="zh-HK" sz="3200" dirty="0">
                <a:hlinkClick r:id="rId2" action="ppaction://hlinkfile"/>
              </a:rPr>
              <a:t>view</a:t>
            </a:r>
            <a:r>
              <a:rPr lang="en-US" altLang="zh-HK" sz="3200" dirty="0"/>
              <a:t>):</a:t>
            </a:r>
          </a:p>
          <a:p>
            <a:pPr marL="365760" lvl="1" indent="0">
              <a:buNone/>
            </a:pPr>
            <a:r>
              <a:rPr lang="en-US" altLang="zh-HK" sz="3300" dirty="0">
                <a:latin typeface="Courier New" pitchFamily="49" charset="0"/>
                <a:cs typeface="Courier New" pitchFamily="49" charset="0"/>
              </a:rPr>
              <a:t>&lt;div id="</a:t>
            </a:r>
            <a:r>
              <a:rPr lang="en-US" altLang="zh-HK" sz="3300" dirty="0" err="1">
                <a:latin typeface="Courier New" pitchFamily="49" charset="0"/>
                <a:cs typeface="Courier New" pitchFamily="49" charset="0"/>
              </a:rPr>
              <a:t>existingNode</a:t>
            </a:r>
            <a:r>
              <a:rPr lang="en-US" altLang="zh-HK" sz="3300" dirty="0">
                <a:latin typeface="Courier New" pitchFamily="49" charset="0"/>
                <a:cs typeface="Courier New" pitchFamily="49" charset="0"/>
              </a:rPr>
              <a:t>"&gt;</a:t>
            </a:r>
          </a:p>
          <a:p>
            <a:pPr marL="365760" lvl="1" indent="0">
              <a:buNone/>
            </a:pPr>
            <a:r>
              <a:rPr lang="en-US" altLang="zh-HK" sz="3300" dirty="0">
                <a:latin typeface="Courier New" pitchFamily="49" charset="0"/>
                <a:cs typeface="Courier New" pitchFamily="49" charset="0"/>
              </a:rPr>
              <a:t>&lt;/div&gt;</a:t>
            </a:r>
          </a:p>
          <a:p>
            <a:pPr marL="365760" lvl="1" indent="0">
              <a:buNone/>
            </a:pPr>
            <a:r>
              <a:rPr lang="en-US" altLang="zh-HK" sz="3300" dirty="0">
                <a:latin typeface="Courier New" pitchFamily="49" charset="0"/>
                <a:cs typeface="Courier New" pitchFamily="49" charset="0"/>
              </a:rPr>
              <a:t>&lt;script&gt;</a:t>
            </a:r>
          </a:p>
          <a:p>
            <a:pPr marL="365760" lvl="1" indent="0">
              <a:buNone/>
            </a:pPr>
            <a:r>
              <a:rPr lang="en-US" altLang="zh-HK" sz="3300" dirty="0">
                <a:latin typeface="Courier New" pitchFamily="49" charset="0"/>
                <a:cs typeface="Courier New" pitchFamily="49" charset="0"/>
              </a:rPr>
              <a:t>// create a &lt;p&gt; element</a:t>
            </a:r>
          </a:p>
          <a:p>
            <a:pPr marL="365760" lvl="1" indent="0">
              <a:buNone/>
            </a:pPr>
            <a:r>
              <a:rPr lang="en-US" altLang="zh-HK" sz="3300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HK" sz="33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HK" sz="3300" dirty="0" err="1">
                <a:latin typeface="Courier New" pitchFamily="49" charset="0"/>
                <a:cs typeface="Courier New" pitchFamily="49" charset="0"/>
              </a:rPr>
              <a:t>newp</a:t>
            </a:r>
            <a:r>
              <a:rPr lang="en-US" altLang="zh-HK" sz="3300" dirty="0">
                <a:latin typeface="Courier New" pitchFamily="49" charset="0"/>
                <a:cs typeface="Courier New" pitchFamily="49" charset="0"/>
              </a:rPr>
              <a:t>=</a:t>
            </a:r>
            <a:r>
              <a:rPr lang="en-US" altLang="zh-HK" sz="3300" dirty="0" err="1">
                <a:latin typeface="Courier New" pitchFamily="49" charset="0"/>
                <a:cs typeface="Courier New" pitchFamily="49" charset="0"/>
              </a:rPr>
              <a:t>document.createElement</a:t>
            </a:r>
            <a:r>
              <a:rPr lang="en-US" altLang="zh-HK" sz="3300" dirty="0">
                <a:latin typeface="Courier New" pitchFamily="49" charset="0"/>
                <a:cs typeface="Courier New" pitchFamily="49" charset="0"/>
              </a:rPr>
              <a:t>("p"); </a:t>
            </a:r>
          </a:p>
          <a:p>
            <a:pPr marL="365760" lvl="1" indent="0">
              <a:buNone/>
            </a:pPr>
            <a:r>
              <a:rPr lang="en-US" altLang="zh-HK" sz="3300" dirty="0">
                <a:latin typeface="Courier New" pitchFamily="49" charset="0"/>
                <a:cs typeface="Courier New" pitchFamily="49" charset="0"/>
              </a:rPr>
              <a:t>// create a new text node</a:t>
            </a:r>
          </a:p>
          <a:p>
            <a:pPr marL="365760" lvl="1" indent="0">
              <a:buNone/>
            </a:pPr>
            <a:r>
              <a:rPr lang="en-US" altLang="zh-HK" sz="3300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HK" sz="33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HK" sz="3300" dirty="0" err="1">
                <a:latin typeface="Courier New" pitchFamily="49" charset="0"/>
                <a:cs typeface="Courier New" pitchFamily="49" charset="0"/>
              </a:rPr>
              <a:t>newtext</a:t>
            </a:r>
            <a:r>
              <a:rPr lang="en-US" altLang="zh-HK" sz="3300" dirty="0">
                <a:latin typeface="Courier New" pitchFamily="49" charset="0"/>
                <a:cs typeface="Courier New" pitchFamily="49" charset="0"/>
              </a:rPr>
              <a:t>=</a:t>
            </a:r>
            <a:r>
              <a:rPr lang="en-US" altLang="zh-HK" sz="3300" dirty="0" err="1">
                <a:latin typeface="Courier New" pitchFamily="49" charset="0"/>
                <a:cs typeface="Courier New" pitchFamily="49" charset="0"/>
              </a:rPr>
              <a:t>document.createTextNode</a:t>
            </a:r>
            <a:r>
              <a:rPr lang="en-US" altLang="zh-HK" sz="3300" dirty="0">
                <a:latin typeface="Courier New" pitchFamily="49" charset="0"/>
                <a:cs typeface="Courier New" pitchFamily="49" charset="0"/>
              </a:rPr>
              <a:t>("This paragraph is a dynamically created and appended to existing node.");</a:t>
            </a:r>
          </a:p>
          <a:p>
            <a:pPr marL="365760" lvl="1" indent="0">
              <a:buNone/>
            </a:pPr>
            <a:r>
              <a:rPr lang="en-US" altLang="zh-HK" sz="3300" dirty="0">
                <a:latin typeface="Courier New" pitchFamily="49" charset="0"/>
                <a:cs typeface="Courier New" pitchFamily="49" charset="0"/>
              </a:rPr>
              <a:t>// append the text node to the &lt;p&gt; element</a:t>
            </a:r>
          </a:p>
          <a:p>
            <a:pPr marL="365760" lvl="1" indent="0">
              <a:buNone/>
            </a:pPr>
            <a:r>
              <a:rPr lang="en-US" altLang="zh-HK" sz="3300" dirty="0" err="1">
                <a:latin typeface="Courier New" pitchFamily="49" charset="0"/>
                <a:cs typeface="Courier New" pitchFamily="49" charset="0"/>
              </a:rPr>
              <a:t>newp.appendChild</a:t>
            </a:r>
            <a:r>
              <a:rPr lang="en-US" altLang="zh-HK" sz="33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HK" sz="3300" dirty="0" err="1">
                <a:latin typeface="Courier New" pitchFamily="49" charset="0"/>
                <a:cs typeface="Courier New" pitchFamily="49" charset="0"/>
              </a:rPr>
              <a:t>newtext</a:t>
            </a:r>
            <a:r>
              <a:rPr lang="en-US" altLang="zh-HK" sz="33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365760" lvl="1" indent="0">
              <a:buNone/>
            </a:pPr>
            <a:r>
              <a:rPr lang="en-US" altLang="zh-HK" sz="3300" dirty="0">
                <a:latin typeface="Courier New" pitchFamily="49" charset="0"/>
                <a:cs typeface="Courier New" pitchFamily="49" charset="0"/>
              </a:rPr>
              <a:t>// find get reference to the &lt;div&gt; element</a:t>
            </a:r>
          </a:p>
          <a:p>
            <a:pPr marL="365760" lvl="1" indent="0">
              <a:buNone/>
            </a:pPr>
            <a:r>
              <a:rPr lang="en-US" altLang="zh-HK" sz="3300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HK" sz="3300" dirty="0">
                <a:latin typeface="Courier New" pitchFamily="49" charset="0"/>
                <a:cs typeface="Courier New" pitchFamily="49" charset="0"/>
              </a:rPr>
              <a:t> node=</a:t>
            </a:r>
            <a:r>
              <a:rPr lang="en-US" altLang="zh-HK" sz="3300" dirty="0" err="1">
                <a:latin typeface="Courier New" pitchFamily="49" charset="0"/>
                <a:cs typeface="Courier New" pitchFamily="49" charset="0"/>
              </a:rPr>
              <a:t>document.getElementById</a:t>
            </a:r>
            <a:r>
              <a:rPr lang="en-US" altLang="zh-HK" sz="3300" dirty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altLang="zh-HK" sz="3300" dirty="0" err="1">
                <a:latin typeface="Courier New" pitchFamily="49" charset="0"/>
                <a:cs typeface="Courier New" pitchFamily="49" charset="0"/>
              </a:rPr>
              <a:t>existingNode</a:t>
            </a:r>
            <a:r>
              <a:rPr lang="en-US" altLang="zh-HK" sz="3300" dirty="0">
                <a:latin typeface="Courier New" pitchFamily="49" charset="0"/>
                <a:cs typeface="Courier New" pitchFamily="49" charset="0"/>
              </a:rPr>
              <a:t>");</a:t>
            </a:r>
          </a:p>
          <a:p>
            <a:pPr marL="365760" lvl="1" indent="0">
              <a:buNone/>
            </a:pPr>
            <a:r>
              <a:rPr lang="en-US" altLang="zh-HK" sz="3300" dirty="0">
                <a:latin typeface="Courier New" pitchFamily="49" charset="0"/>
                <a:cs typeface="Courier New" pitchFamily="49" charset="0"/>
              </a:rPr>
              <a:t>// append the &lt;p&gt; element to the &lt;div&gt; element</a:t>
            </a:r>
          </a:p>
          <a:p>
            <a:pPr marL="365760" lvl="1" indent="0">
              <a:buNone/>
            </a:pPr>
            <a:r>
              <a:rPr lang="en-US" altLang="zh-HK" sz="3300" dirty="0" err="1">
                <a:latin typeface="Courier New" pitchFamily="49" charset="0"/>
                <a:cs typeface="Courier New" pitchFamily="49" charset="0"/>
              </a:rPr>
              <a:t>node.appendChild</a:t>
            </a:r>
            <a:r>
              <a:rPr lang="en-US" altLang="zh-HK" sz="33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HK" sz="3300" dirty="0" err="1">
                <a:latin typeface="Courier New" pitchFamily="49" charset="0"/>
                <a:cs typeface="Courier New" pitchFamily="49" charset="0"/>
              </a:rPr>
              <a:t>newp</a:t>
            </a:r>
            <a:r>
              <a:rPr lang="en-US" altLang="zh-HK" sz="33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365760" lvl="1" indent="0">
              <a:buNone/>
            </a:pPr>
            <a:r>
              <a:rPr lang="en-US" altLang="zh-HK" sz="3300" dirty="0">
                <a:latin typeface="Courier New" pitchFamily="49" charset="0"/>
                <a:cs typeface="Courier New" pitchFamily="49" charset="0"/>
              </a:rPr>
              <a:t>&lt;/script&gt;</a:t>
            </a:r>
          </a:p>
          <a:p>
            <a:pPr marL="0" indent="0">
              <a:buNone/>
            </a:pP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3160500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Removing (HTML Elements)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HK" dirty="0"/>
              <a:t>HTML elements can be dynamically removed from existing element (</a:t>
            </a:r>
            <a:r>
              <a:rPr lang="en-US" altLang="zh-HK" dirty="0">
                <a:hlinkClick r:id="rId2" action="ppaction://hlinkfile"/>
              </a:rPr>
              <a:t>view</a:t>
            </a:r>
            <a:r>
              <a:rPr lang="en-US" altLang="zh-HK" dirty="0"/>
              <a:t>):</a:t>
            </a:r>
          </a:p>
          <a:p>
            <a:pPr marL="365760" lvl="1" indent="0">
              <a:buNone/>
            </a:pP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&lt;div id="</a:t>
            </a:r>
            <a:r>
              <a:rPr lang="en-US" altLang="zh-HK" sz="1700" dirty="0" err="1">
                <a:latin typeface="Courier New" pitchFamily="49" charset="0"/>
                <a:cs typeface="Courier New" pitchFamily="49" charset="0"/>
              </a:rPr>
              <a:t>existingNode</a:t>
            </a: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"&gt;</a:t>
            </a:r>
          </a:p>
          <a:p>
            <a:pPr marL="365760" lvl="1" indent="0">
              <a:buNone/>
            </a:pP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&lt;p id="para1"&gt;This paragraph is removed.&lt;/p&gt;</a:t>
            </a:r>
          </a:p>
          <a:p>
            <a:pPr marL="365760" lvl="1" indent="0">
              <a:buNone/>
            </a:pP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&lt;p&gt;This the second paragraph.&lt;/p&gt;</a:t>
            </a:r>
          </a:p>
          <a:p>
            <a:pPr marL="365760" lvl="1" indent="0">
              <a:buNone/>
            </a:pP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&lt;/div&gt;</a:t>
            </a:r>
          </a:p>
          <a:p>
            <a:pPr marL="365760" lvl="1" indent="0">
              <a:buNone/>
            </a:pP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&lt;script&gt;</a:t>
            </a:r>
          </a:p>
          <a:p>
            <a:pPr marL="365760" lvl="1" indent="0">
              <a:buNone/>
            </a:pP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// find the reference of the &lt;div&gt; element</a:t>
            </a:r>
          </a:p>
          <a:p>
            <a:pPr marL="365760" lvl="1" indent="0">
              <a:buNone/>
            </a:pPr>
            <a:r>
              <a:rPr lang="en-US" altLang="zh-HK" sz="1700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 node=</a:t>
            </a:r>
            <a:r>
              <a:rPr lang="en-US" altLang="zh-HK" sz="1700" dirty="0" err="1">
                <a:latin typeface="Courier New" pitchFamily="49" charset="0"/>
                <a:cs typeface="Courier New" pitchFamily="49" charset="0"/>
              </a:rPr>
              <a:t>document.getElementById</a:t>
            </a: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altLang="zh-HK" sz="1700" dirty="0" err="1">
                <a:latin typeface="Courier New" pitchFamily="49" charset="0"/>
                <a:cs typeface="Courier New" pitchFamily="49" charset="0"/>
              </a:rPr>
              <a:t>existingNode</a:t>
            </a: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");</a:t>
            </a:r>
          </a:p>
          <a:p>
            <a:pPr marL="365760" lvl="1" indent="0">
              <a:buNone/>
            </a:pP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// find the reference of the first paragraph</a:t>
            </a:r>
          </a:p>
          <a:p>
            <a:pPr marL="365760" lvl="1" indent="0">
              <a:buNone/>
            </a:pPr>
            <a:r>
              <a:rPr lang="en-US" altLang="zh-HK" sz="1700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HK" sz="1700" dirty="0" err="1">
                <a:latin typeface="Courier New" pitchFamily="49" charset="0"/>
                <a:cs typeface="Courier New" pitchFamily="49" charset="0"/>
              </a:rPr>
              <a:t>fp</a:t>
            </a: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=</a:t>
            </a:r>
            <a:r>
              <a:rPr lang="en-US" altLang="zh-HK" sz="1700" dirty="0" err="1">
                <a:latin typeface="Courier New" pitchFamily="49" charset="0"/>
                <a:cs typeface="Courier New" pitchFamily="49" charset="0"/>
              </a:rPr>
              <a:t>document.getElementById</a:t>
            </a: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("para1");</a:t>
            </a:r>
          </a:p>
          <a:p>
            <a:pPr marL="365760" lvl="1" indent="0">
              <a:buNone/>
            </a:pP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// remove the first paragraph from the &lt;div&gt; element</a:t>
            </a:r>
          </a:p>
          <a:p>
            <a:pPr marL="365760" lvl="1" indent="0">
              <a:buNone/>
            </a:pPr>
            <a:r>
              <a:rPr lang="en-US" altLang="zh-HK" sz="1700" dirty="0" err="1">
                <a:latin typeface="Courier New" pitchFamily="49" charset="0"/>
                <a:cs typeface="Courier New" pitchFamily="49" charset="0"/>
              </a:rPr>
              <a:t>node.removeChild</a:t>
            </a: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HK" sz="1700" dirty="0" err="1">
                <a:latin typeface="Courier New" pitchFamily="49" charset="0"/>
                <a:cs typeface="Courier New" pitchFamily="49" charset="0"/>
              </a:rPr>
              <a:t>fp</a:t>
            </a: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365760" lvl="1" indent="0">
              <a:buNone/>
            </a:pPr>
            <a:r>
              <a:rPr lang="en-US" altLang="zh-HK" sz="1700" dirty="0">
                <a:latin typeface="Courier New" pitchFamily="49" charset="0"/>
                <a:cs typeface="Courier New" pitchFamily="49" charset="0"/>
              </a:rPr>
              <a:t>&lt;/script&gt;</a:t>
            </a:r>
          </a:p>
          <a:p>
            <a:pPr marL="0" indent="0">
              <a:buNone/>
            </a:pP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136862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HTML Event Model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dirty="0"/>
              <a:t>HTML elements can be nested inside each other.  </a:t>
            </a:r>
          </a:p>
          <a:p>
            <a:r>
              <a:rPr lang="en-US" altLang="zh-HK" dirty="0"/>
              <a:t>When an event occurs, there are two phases of propagation:</a:t>
            </a:r>
          </a:p>
          <a:p>
            <a:pPr marL="850392" lvl="1" indent="-457200">
              <a:buFont typeface="+mj-lt"/>
              <a:buAutoNum type="arabicPeriod"/>
            </a:pPr>
            <a:r>
              <a:rPr lang="en-US" altLang="zh-HK" dirty="0"/>
              <a:t>The event propagates from the topmost element to the innermost element in the containment tree. </a:t>
            </a:r>
          </a:p>
          <a:p>
            <a:pPr marL="850392" lvl="1" indent="-457200">
              <a:buFont typeface="+mj-lt"/>
              <a:buAutoNum type="arabicPeriod"/>
            </a:pPr>
            <a:r>
              <a:rPr lang="en-US" altLang="zh-HK" dirty="0"/>
              <a:t>The event bubbles up from the innermost element to the topmost element in the containment tree.</a:t>
            </a:r>
          </a:p>
          <a:p>
            <a:pPr marL="393192" lvl="1" indent="0">
              <a:buNone/>
            </a:pPr>
            <a:endParaRPr lang="en-US" altLang="zh-HK" dirty="0"/>
          </a:p>
        </p:txBody>
      </p:sp>
    </p:spTree>
    <p:extLst>
      <p:ext uri="{BB962C8B-B14F-4D97-AF65-F5344CB8AC3E}">
        <p14:creationId xmlns:p14="http://schemas.microsoft.com/office/powerpoint/2010/main" val="3770970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Capturing Phase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dirty="0"/>
              <a:t>Element A contains element B.  Element B contains element C.</a:t>
            </a:r>
          </a:p>
          <a:p>
            <a:endParaRPr lang="en-US" altLang="zh-HK" dirty="0"/>
          </a:p>
          <a:p>
            <a:endParaRPr lang="en-US" altLang="zh-HK" dirty="0"/>
          </a:p>
          <a:p>
            <a:endParaRPr lang="en-US" altLang="zh-HK" dirty="0"/>
          </a:p>
          <a:p>
            <a:r>
              <a:rPr lang="en-US" altLang="zh-HK" dirty="0"/>
              <a:t>An event occurs at position marked by “</a:t>
            </a:r>
            <a:r>
              <a:rPr lang="en-US" altLang="zh-HK" dirty="0">
                <a:solidFill>
                  <a:srgbClr val="7030A0"/>
                </a:solidFill>
              </a:rPr>
              <a:t>x</a:t>
            </a:r>
            <a:r>
              <a:rPr lang="en-US" altLang="zh-HK" dirty="0"/>
              <a:t>”.</a:t>
            </a:r>
          </a:p>
          <a:p>
            <a:r>
              <a:rPr lang="en-US" altLang="zh-HK" dirty="0"/>
              <a:t>During the capturing phrase, the event is passed to the elements in the order: A -&gt; B -&gt; C.</a:t>
            </a:r>
            <a:endParaRPr lang="zh-HK" altLang="en-US" dirty="0"/>
          </a:p>
        </p:txBody>
      </p:sp>
      <p:grpSp>
        <p:nvGrpSpPr>
          <p:cNvPr id="11" name="群組 10"/>
          <p:cNvGrpSpPr/>
          <p:nvPr/>
        </p:nvGrpSpPr>
        <p:grpSpPr>
          <a:xfrm>
            <a:off x="2627784" y="2420888"/>
            <a:ext cx="1584176" cy="1656184"/>
            <a:chOff x="2627784" y="2420888"/>
            <a:chExt cx="1584176" cy="1656184"/>
          </a:xfrm>
        </p:grpSpPr>
        <p:sp>
          <p:nvSpPr>
            <p:cNvPr id="4" name="矩形 3"/>
            <p:cNvSpPr/>
            <p:nvPr/>
          </p:nvSpPr>
          <p:spPr>
            <a:xfrm>
              <a:off x="2627784" y="2492896"/>
              <a:ext cx="1584176" cy="158417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2771800" y="2708920"/>
              <a:ext cx="1296144" cy="11521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2987824" y="2924944"/>
              <a:ext cx="864096" cy="72008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solidFill>
                  <a:schemeClr val="accent4"/>
                </a:solidFill>
              </a:endParaRPr>
            </a:p>
          </p:txBody>
        </p:sp>
        <p:sp>
          <p:nvSpPr>
            <p:cNvPr id="7" name="文字方塊 6"/>
            <p:cNvSpPr txBox="1"/>
            <p:nvPr/>
          </p:nvSpPr>
          <p:spPr>
            <a:xfrm>
              <a:off x="3203848" y="2996952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dirty="0"/>
                <a:t>C</a:t>
              </a:r>
              <a:endParaRPr lang="zh-HK" altLang="en-US" dirty="0"/>
            </a:p>
          </p:txBody>
        </p:sp>
        <p:sp>
          <p:nvSpPr>
            <p:cNvPr id="8" name="文字方塊 7"/>
            <p:cNvSpPr txBox="1"/>
            <p:nvPr/>
          </p:nvSpPr>
          <p:spPr>
            <a:xfrm>
              <a:off x="3203848" y="242088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dirty="0"/>
                <a:t>A</a:t>
              </a:r>
              <a:endParaRPr lang="zh-HK" altLang="en-US" dirty="0"/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3203848" y="2636912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dirty="0"/>
                <a:t>B</a:t>
              </a:r>
              <a:endParaRPr lang="zh-HK" altLang="en-US" dirty="0"/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3203848" y="3275692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dirty="0">
                  <a:solidFill>
                    <a:srgbClr val="7030A0"/>
                  </a:solidFill>
                </a:rPr>
                <a:t>x</a:t>
              </a:r>
              <a:endParaRPr lang="zh-HK" altLang="en-US" dirty="0">
                <a:solidFill>
                  <a:srgbClr val="7030A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06582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Bubbling Phrase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altLang="zh-HK" sz="3300" dirty="0"/>
              <a:t>During the bubbling phrase, the event is passed to the elements in the order: C -&gt; B -&gt; A.</a:t>
            </a:r>
            <a:endParaRPr lang="zh-HK" altLang="en-US" sz="3300" dirty="0"/>
          </a:p>
          <a:p>
            <a:endParaRPr lang="en-US" altLang="zh-HK" dirty="0"/>
          </a:p>
          <a:p>
            <a:endParaRPr lang="en-US" altLang="zh-HK" dirty="0"/>
          </a:p>
          <a:p>
            <a:endParaRPr lang="en-US" altLang="zh-HK" dirty="0"/>
          </a:p>
          <a:p>
            <a:endParaRPr lang="en-US" altLang="zh-HK" dirty="0"/>
          </a:p>
          <a:p>
            <a:endParaRPr lang="en-US" altLang="zh-HK" dirty="0"/>
          </a:p>
          <a:p>
            <a:endParaRPr lang="en-US" altLang="zh-HK" dirty="0"/>
          </a:p>
          <a:p>
            <a:endParaRPr lang="en-US" altLang="zh-HK" dirty="0"/>
          </a:p>
          <a:p>
            <a:endParaRPr lang="en-US" altLang="zh-HK" dirty="0"/>
          </a:p>
          <a:p>
            <a:r>
              <a:rPr lang="en-US" altLang="zh-HK" sz="3300" dirty="0"/>
              <a:t>All methods of event handling ignore the capturing phase. </a:t>
            </a:r>
          </a:p>
          <a:p>
            <a:r>
              <a:rPr lang="en-US" altLang="zh-HK" sz="3300" dirty="0"/>
              <a:t>The only way to catch the event at </a:t>
            </a:r>
            <a:r>
              <a:rPr lang="en-US" altLang="zh-HK" sz="3300" dirty="0" err="1"/>
              <a:t>papturing</a:t>
            </a:r>
            <a:r>
              <a:rPr lang="en-US" altLang="zh-HK" sz="3300" dirty="0"/>
              <a:t> phrase is to use </a:t>
            </a:r>
            <a:r>
              <a:rPr lang="en-US" altLang="zh-HK" sz="3300" dirty="0" err="1">
                <a:latin typeface="Courier New" pitchFamily="49" charset="0"/>
                <a:cs typeface="Courier New" pitchFamily="49" charset="0"/>
              </a:rPr>
              <a:t>addEventListener</a:t>
            </a:r>
            <a:r>
              <a:rPr lang="en-US" altLang="zh-HK" sz="3300" dirty="0"/>
              <a:t> with last argument true:</a:t>
            </a:r>
          </a:p>
          <a:p>
            <a:pPr marL="0" indent="0">
              <a:buNone/>
            </a:pPr>
            <a:endParaRPr lang="en-US" altLang="zh-HK" dirty="0"/>
          </a:p>
          <a:p>
            <a:pPr marL="365760" lvl="1" indent="0">
              <a:buNone/>
            </a:pPr>
            <a:r>
              <a:rPr lang="en-US" altLang="zh-HK" sz="2900" dirty="0" err="1">
                <a:latin typeface="Courier New" pitchFamily="49" charset="0"/>
                <a:cs typeface="Courier New" pitchFamily="49" charset="0"/>
              </a:rPr>
              <a:t>elem.addEventListener</a:t>
            </a:r>
            <a:r>
              <a:rPr lang="en-US" altLang="zh-HK" sz="2900" dirty="0">
                <a:latin typeface="Courier New" pitchFamily="49" charset="0"/>
                <a:cs typeface="Courier New" pitchFamily="49" charset="0"/>
              </a:rPr>
              <a:t>( type, handler, phase )</a:t>
            </a:r>
          </a:p>
          <a:p>
            <a:pPr marL="365760" lvl="1" indent="0">
              <a:buNone/>
            </a:pPr>
            <a:endParaRPr lang="en-US" altLang="zh-HK" sz="2700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altLang="zh-HK" sz="2900" dirty="0"/>
              <a:t>phase = true - The handler is set on the capturing phase.</a:t>
            </a:r>
          </a:p>
          <a:p>
            <a:pPr lvl="1"/>
            <a:r>
              <a:rPr lang="en-US" altLang="zh-HK" sz="2900" dirty="0"/>
              <a:t>phase = false - The handler is set on the bubbling phase.</a:t>
            </a:r>
          </a:p>
          <a:p>
            <a:endParaRPr lang="en-US" altLang="zh-HK" dirty="0"/>
          </a:p>
          <a:p>
            <a:endParaRPr lang="zh-HK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2555776" y="2403569"/>
            <a:ext cx="1584176" cy="1656184"/>
            <a:chOff x="2627784" y="2420888"/>
            <a:chExt cx="1584176" cy="1656184"/>
          </a:xfrm>
        </p:grpSpPr>
        <p:sp>
          <p:nvSpPr>
            <p:cNvPr id="5" name="矩形 4"/>
            <p:cNvSpPr/>
            <p:nvPr/>
          </p:nvSpPr>
          <p:spPr>
            <a:xfrm>
              <a:off x="2627784" y="2492896"/>
              <a:ext cx="1584176" cy="158417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2771800" y="2708920"/>
              <a:ext cx="1296144" cy="11521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2987824" y="2924944"/>
              <a:ext cx="864096" cy="72008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>
                <a:solidFill>
                  <a:schemeClr val="accent4"/>
                </a:solidFill>
              </a:endParaRPr>
            </a:p>
          </p:txBody>
        </p:sp>
        <p:sp>
          <p:nvSpPr>
            <p:cNvPr id="8" name="文字方塊 7"/>
            <p:cNvSpPr txBox="1"/>
            <p:nvPr/>
          </p:nvSpPr>
          <p:spPr>
            <a:xfrm>
              <a:off x="3203848" y="2996952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dirty="0"/>
                <a:t>C</a:t>
              </a:r>
              <a:endParaRPr lang="zh-HK" altLang="en-US" dirty="0"/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3203848" y="2420888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dirty="0"/>
                <a:t>A</a:t>
              </a:r>
              <a:endParaRPr lang="zh-HK" altLang="en-US" dirty="0"/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3203848" y="2636912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dirty="0"/>
                <a:t>B</a:t>
              </a:r>
              <a:endParaRPr lang="zh-HK" altLang="en-US" dirty="0"/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3203848" y="3275692"/>
              <a:ext cx="288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dirty="0">
                  <a:solidFill>
                    <a:srgbClr val="7030A0"/>
                  </a:solidFill>
                </a:rPr>
                <a:t>x</a:t>
              </a:r>
              <a:endParaRPr lang="zh-HK" altLang="en-US" dirty="0">
                <a:solidFill>
                  <a:srgbClr val="7030A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6757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HK" dirty="0"/>
              <a:t>Handling Events in Bubbling Phrase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altLang="zh-HK" sz="3800" dirty="0"/>
              <a:t>The following code shows the effect of event bubbling (</a:t>
            </a:r>
            <a:r>
              <a:rPr lang="en-US" altLang="zh-HK" sz="3800" dirty="0">
                <a:hlinkClick r:id="rId2" action="ppaction://hlinkfile"/>
              </a:rPr>
              <a:t>view</a:t>
            </a:r>
            <a:r>
              <a:rPr lang="en-US" altLang="zh-HK" sz="3800" dirty="0"/>
              <a:t>):</a:t>
            </a:r>
          </a:p>
          <a:p>
            <a:pPr marL="0" indent="0">
              <a:buNone/>
            </a:pPr>
            <a:r>
              <a:rPr lang="en-US" altLang="zh-HK" sz="3800" dirty="0">
                <a:latin typeface="Courier New" pitchFamily="49" charset="0"/>
                <a:cs typeface="Courier New" pitchFamily="49" charset="0"/>
              </a:rPr>
              <a:t>&lt;link type="text/</a:t>
            </a:r>
            <a:r>
              <a:rPr lang="en-US" altLang="zh-HK" sz="3800" dirty="0" err="1">
                <a:latin typeface="Courier New" pitchFamily="49" charset="0"/>
                <a:cs typeface="Courier New" pitchFamily="49" charset="0"/>
              </a:rPr>
              <a:t>css</a:t>
            </a:r>
            <a:r>
              <a:rPr lang="en-US" altLang="zh-HK" sz="3800" dirty="0">
                <a:latin typeface="Courier New" pitchFamily="49" charset="0"/>
                <a:cs typeface="Courier New" pitchFamily="49" charset="0"/>
              </a:rPr>
              <a:t>" </a:t>
            </a:r>
            <a:r>
              <a:rPr lang="en-US" altLang="zh-HK" sz="3800" dirty="0" err="1">
                <a:latin typeface="Courier New" pitchFamily="49" charset="0"/>
                <a:cs typeface="Courier New" pitchFamily="49" charset="0"/>
              </a:rPr>
              <a:t>rel</a:t>
            </a:r>
            <a:r>
              <a:rPr lang="en-US" altLang="zh-HK" sz="3800" dirty="0">
                <a:latin typeface="Courier New" pitchFamily="49" charset="0"/>
                <a:cs typeface="Courier New" pitchFamily="49" charset="0"/>
              </a:rPr>
              <a:t>="</a:t>
            </a:r>
            <a:r>
              <a:rPr lang="en-US" altLang="zh-HK" sz="3800" dirty="0" err="1">
                <a:latin typeface="Courier New" pitchFamily="49" charset="0"/>
                <a:cs typeface="Courier New" pitchFamily="49" charset="0"/>
              </a:rPr>
              <a:t>stylesheet</a:t>
            </a:r>
            <a:r>
              <a:rPr lang="en-US" altLang="zh-HK" sz="3800" dirty="0">
                <a:latin typeface="Courier New" pitchFamily="49" charset="0"/>
                <a:cs typeface="Courier New" pitchFamily="49" charset="0"/>
              </a:rPr>
              <a:t>" </a:t>
            </a:r>
            <a:r>
              <a:rPr lang="en-US" altLang="zh-HK" sz="3800" dirty="0" err="1">
                <a:latin typeface="Courier New" pitchFamily="49" charset="0"/>
                <a:cs typeface="Courier New" pitchFamily="49" charset="0"/>
              </a:rPr>
              <a:t>href</a:t>
            </a:r>
            <a:r>
              <a:rPr lang="en-US" altLang="zh-HK" sz="3800" dirty="0">
                <a:latin typeface="Courier New" pitchFamily="49" charset="0"/>
                <a:cs typeface="Courier New" pitchFamily="49" charset="0"/>
              </a:rPr>
              <a:t>="evexample.css"&gt;</a:t>
            </a:r>
          </a:p>
          <a:p>
            <a:pPr marL="0" indent="0">
              <a:buNone/>
            </a:pPr>
            <a:r>
              <a:rPr lang="en-US" altLang="zh-HK" sz="3800" dirty="0">
                <a:latin typeface="Courier New" pitchFamily="49" charset="0"/>
                <a:cs typeface="Courier New" pitchFamily="49" charset="0"/>
              </a:rPr>
              <a:t>&lt;div class="A" </a:t>
            </a:r>
            <a:r>
              <a:rPr lang="en-US" altLang="zh-HK" sz="3800" dirty="0" err="1">
                <a:latin typeface="Courier New" pitchFamily="49" charset="0"/>
                <a:cs typeface="Courier New" pitchFamily="49" charset="0"/>
              </a:rPr>
              <a:t>onclick</a:t>
            </a:r>
            <a:r>
              <a:rPr lang="en-US" altLang="zh-HK" sz="3800" dirty="0">
                <a:latin typeface="Courier New" pitchFamily="49" charset="0"/>
                <a:cs typeface="Courier New" pitchFamily="49" charset="0"/>
              </a:rPr>
              <a:t>="</a:t>
            </a:r>
            <a:r>
              <a:rPr lang="en-US" altLang="zh-HK" sz="3800" dirty="0" err="1">
                <a:latin typeface="Courier New" pitchFamily="49" charset="0"/>
                <a:cs typeface="Courier New" pitchFamily="49" charset="0"/>
              </a:rPr>
              <a:t>changeColor</a:t>
            </a:r>
            <a:r>
              <a:rPr lang="en-US" altLang="zh-HK" sz="3800" dirty="0">
                <a:latin typeface="Courier New" pitchFamily="49" charset="0"/>
                <a:cs typeface="Courier New" pitchFamily="49" charset="0"/>
              </a:rPr>
              <a:t>(this)"&gt;A  </a:t>
            </a:r>
          </a:p>
          <a:p>
            <a:pPr marL="0" indent="0">
              <a:buNone/>
            </a:pPr>
            <a:r>
              <a:rPr lang="en-US" altLang="zh-HK" sz="3800" dirty="0">
                <a:latin typeface="Courier New" pitchFamily="49" charset="0"/>
                <a:cs typeface="Courier New" pitchFamily="49" charset="0"/>
              </a:rPr>
              <a:t>    &lt;div class="B" </a:t>
            </a:r>
            <a:r>
              <a:rPr lang="en-US" altLang="zh-HK" sz="3800" dirty="0" err="1">
                <a:latin typeface="Courier New" pitchFamily="49" charset="0"/>
                <a:cs typeface="Courier New" pitchFamily="49" charset="0"/>
              </a:rPr>
              <a:t>onclick</a:t>
            </a:r>
            <a:r>
              <a:rPr lang="en-US" altLang="zh-HK" sz="3800" dirty="0">
                <a:latin typeface="Courier New" pitchFamily="49" charset="0"/>
                <a:cs typeface="Courier New" pitchFamily="49" charset="0"/>
              </a:rPr>
              <a:t>="</a:t>
            </a:r>
            <a:r>
              <a:rPr lang="en-US" altLang="zh-HK" sz="3800" dirty="0" err="1">
                <a:latin typeface="Courier New" pitchFamily="49" charset="0"/>
                <a:cs typeface="Courier New" pitchFamily="49" charset="0"/>
              </a:rPr>
              <a:t>changeColor</a:t>
            </a:r>
            <a:r>
              <a:rPr lang="en-US" altLang="zh-HK" sz="3800" dirty="0">
                <a:latin typeface="Courier New" pitchFamily="49" charset="0"/>
                <a:cs typeface="Courier New" pitchFamily="49" charset="0"/>
              </a:rPr>
              <a:t>(this)"&gt;B</a:t>
            </a:r>
          </a:p>
          <a:p>
            <a:pPr marL="0" indent="0">
              <a:buNone/>
            </a:pPr>
            <a:r>
              <a:rPr lang="en-US" altLang="zh-HK" sz="3800" dirty="0">
                <a:latin typeface="Courier New" pitchFamily="49" charset="0"/>
                <a:cs typeface="Courier New" pitchFamily="49" charset="0"/>
              </a:rPr>
              <a:t>        &lt;div class="C" </a:t>
            </a:r>
            <a:r>
              <a:rPr lang="en-US" altLang="zh-HK" sz="3800" dirty="0" err="1">
                <a:latin typeface="Courier New" pitchFamily="49" charset="0"/>
                <a:cs typeface="Courier New" pitchFamily="49" charset="0"/>
              </a:rPr>
              <a:t>onclick</a:t>
            </a:r>
            <a:r>
              <a:rPr lang="en-US" altLang="zh-HK" sz="3800" dirty="0">
                <a:latin typeface="Courier New" pitchFamily="49" charset="0"/>
                <a:cs typeface="Courier New" pitchFamily="49" charset="0"/>
              </a:rPr>
              <a:t>="</a:t>
            </a:r>
            <a:r>
              <a:rPr lang="en-US" altLang="zh-HK" sz="3800" dirty="0" err="1">
                <a:latin typeface="Courier New" pitchFamily="49" charset="0"/>
                <a:cs typeface="Courier New" pitchFamily="49" charset="0"/>
              </a:rPr>
              <a:t>changeColor</a:t>
            </a:r>
            <a:r>
              <a:rPr lang="en-US" altLang="zh-HK" sz="3800" dirty="0">
                <a:latin typeface="Courier New" pitchFamily="49" charset="0"/>
                <a:cs typeface="Courier New" pitchFamily="49" charset="0"/>
              </a:rPr>
              <a:t>(this)"&gt;C</a:t>
            </a:r>
          </a:p>
          <a:p>
            <a:pPr marL="0" indent="0">
              <a:buNone/>
            </a:pPr>
            <a:r>
              <a:rPr lang="en-US" altLang="zh-HK" sz="3800" dirty="0">
                <a:latin typeface="Courier New" pitchFamily="49" charset="0"/>
                <a:cs typeface="Courier New" pitchFamily="49" charset="0"/>
              </a:rPr>
              <a:t>        &lt;/div&gt; </a:t>
            </a:r>
          </a:p>
          <a:p>
            <a:pPr marL="0" indent="0">
              <a:buNone/>
            </a:pPr>
            <a:r>
              <a:rPr lang="en-US" altLang="zh-HK" sz="3800" dirty="0">
                <a:latin typeface="Courier New" pitchFamily="49" charset="0"/>
                <a:cs typeface="Courier New" pitchFamily="49" charset="0"/>
              </a:rPr>
              <a:t>    &lt;/div&gt;</a:t>
            </a:r>
          </a:p>
          <a:p>
            <a:pPr marL="0" indent="0">
              <a:buNone/>
            </a:pPr>
            <a:r>
              <a:rPr lang="en-US" altLang="zh-HK" sz="3800" dirty="0">
                <a:latin typeface="Courier New" pitchFamily="49" charset="0"/>
                <a:cs typeface="Courier New" pitchFamily="49" charset="0"/>
              </a:rPr>
              <a:t>&lt;/div&gt;</a:t>
            </a:r>
          </a:p>
          <a:p>
            <a:pPr marL="0" indent="0">
              <a:buNone/>
            </a:pPr>
            <a:r>
              <a:rPr lang="en-US" altLang="zh-HK" sz="3800" dirty="0">
                <a:latin typeface="Courier New" pitchFamily="49" charset="0"/>
                <a:cs typeface="Courier New" pitchFamily="49" charset="0"/>
              </a:rPr>
              <a:t>&lt;script&gt;</a:t>
            </a:r>
          </a:p>
          <a:p>
            <a:pPr marL="0" indent="0">
              <a:buNone/>
            </a:pPr>
            <a:r>
              <a:rPr lang="en-US" altLang="zh-HK" sz="3800" dirty="0">
                <a:latin typeface="Courier New" pitchFamily="49" charset="0"/>
                <a:cs typeface="Courier New" pitchFamily="49" charset="0"/>
              </a:rPr>
              <a:t>function </a:t>
            </a:r>
            <a:r>
              <a:rPr lang="en-US" altLang="zh-HK" sz="3800" dirty="0" err="1">
                <a:latin typeface="Courier New" pitchFamily="49" charset="0"/>
                <a:cs typeface="Courier New" pitchFamily="49" charset="0"/>
              </a:rPr>
              <a:t>changeColor</a:t>
            </a:r>
            <a:r>
              <a:rPr lang="en-US" altLang="zh-HK" sz="3800" dirty="0">
                <a:latin typeface="Courier New" pitchFamily="49" charset="0"/>
                <a:cs typeface="Courier New" pitchFamily="49" charset="0"/>
              </a:rPr>
              <a:t>(element) {</a:t>
            </a:r>
          </a:p>
          <a:p>
            <a:pPr marL="0" indent="0">
              <a:buNone/>
            </a:pPr>
            <a:r>
              <a:rPr lang="en-US" altLang="zh-HK" sz="38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HK" sz="3800" dirty="0" err="1">
                <a:latin typeface="Courier New" pitchFamily="49" charset="0"/>
                <a:cs typeface="Courier New" pitchFamily="49" charset="0"/>
              </a:rPr>
              <a:t>element.style.backgroundColor</a:t>
            </a:r>
            <a:r>
              <a:rPr lang="en-US" altLang="zh-HK" sz="3800" dirty="0">
                <a:latin typeface="Courier New" pitchFamily="49" charset="0"/>
                <a:cs typeface="Courier New" pitchFamily="49" charset="0"/>
              </a:rPr>
              <a:t>='orange'</a:t>
            </a:r>
          </a:p>
          <a:p>
            <a:pPr marL="0" indent="0">
              <a:buNone/>
            </a:pPr>
            <a:r>
              <a:rPr lang="en-US" altLang="zh-HK" sz="3800" dirty="0">
                <a:latin typeface="Courier New" pitchFamily="49" charset="0"/>
                <a:cs typeface="Courier New" pitchFamily="49" charset="0"/>
              </a:rPr>
              <a:t>    alert(</a:t>
            </a:r>
            <a:r>
              <a:rPr lang="en-US" altLang="zh-HK" sz="3800" dirty="0" err="1">
                <a:latin typeface="Courier New" pitchFamily="49" charset="0"/>
                <a:cs typeface="Courier New" pitchFamily="49" charset="0"/>
              </a:rPr>
              <a:t>element.className</a:t>
            </a:r>
            <a:r>
              <a:rPr lang="en-US" altLang="zh-HK" sz="3800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0" indent="0">
              <a:buNone/>
            </a:pPr>
            <a:r>
              <a:rPr lang="en-US" altLang="zh-HK" sz="38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HK" sz="3800" dirty="0" err="1">
                <a:latin typeface="Courier New" pitchFamily="49" charset="0"/>
                <a:cs typeface="Courier New" pitchFamily="49" charset="0"/>
              </a:rPr>
              <a:t>element.style.backgroundColor</a:t>
            </a:r>
            <a:r>
              <a:rPr lang="en-US" altLang="zh-HK" sz="3800" dirty="0">
                <a:latin typeface="Courier New" pitchFamily="49" charset="0"/>
                <a:cs typeface="Courier New" pitchFamily="49" charset="0"/>
              </a:rPr>
              <a:t> = ''</a:t>
            </a:r>
          </a:p>
          <a:p>
            <a:pPr marL="0" indent="0">
              <a:buNone/>
            </a:pPr>
            <a:r>
              <a:rPr lang="en-US" altLang="zh-HK" sz="38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None/>
            </a:pPr>
            <a:r>
              <a:rPr lang="en-US" altLang="zh-HK" sz="3800" dirty="0">
                <a:latin typeface="Courier New" pitchFamily="49" charset="0"/>
                <a:cs typeface="Courier New" pitchFamily="49" charset="0"/>
              </a:rPr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36764573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Stop Event Propagation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HK" dirty="0"/>
              <a:t>Event propagation can be stopped by:</a:t>
            </a:r>
          </a:p>
          <a:p>
            <a:pPr lvl="1"/>
            <a:r>
              <a:rPr lang="en-US" altLang="zh-HK" dirty="0" err="1">
                <a:latin typeface="Courier New" pitchFamily="49" charset="0"/>
                <a:cs typeface="Courier New" pitchFamily="49" charset="0"/>
              </a:rPr>
              <a:t>event.stopPropagation</a:t>
            </a:r>
            <a:r>
              <a:rPr lang="en-US" altLang="zh-HK" dirty="0">
                <a:latin typeface="Courier New" pitchFamily="49" charset="0"/>
                <a:cs typeface="Courier New" pitchFamily="49" charset="0"/>
              </a:rPr>
              <a:t>()</a:t>
            </a:r>
            <a:r>
              <a:rPr lang="en-US" altLang="zh-HK" dirty="0"/>
              <a:t> for W3C-compliant browsers</a:t>
            </a:r>
          </a:p>
          <a:p>
            <a:pPr lvl="1"/>
            <a:r>
              <a:rPr lang="en-US" altLang="zh-HK" dirty="0" err="1">
                <a:latin typeface="Courier New" pitchFamily="49" charset="0"/>
                <a:cs typeface="Courier New" pitchFamily="49" charset="0"/>
              </a:rPr>
              <a:t>event.cancelBubble</a:t>
            </a:r>
            <a:r>
              <a:rPr lang="en-US" altLang="zh-HK" dirty="0"/>
              <a:t> = true for IE version &lt; 9</a:t>
            </a:r>
          </a:p>
          <a:p>
            <a:r>
              <a:rPr lang="en-US" altLang="zh-HK" dirty="0"/>
              <a:t>The following code stop event propagation for all browsers:</a:t>
            </a:r>
          </a:p>
          <a:p>
            <a:pPr marL="365760" lvl="1" indent="0">
              <a:buNone/>
            </a:pPr>
            <a:r>
              <a:rPr lang="en-US" altLang="zh-HK" dirty="0"/>
              <a:t> </a:t>
            </a:r>
            <a:r>
              <a:rPr lang="en-US" altLang="zh-HK" dirty="0">
                <a:latin typeface="Courier New" pitchFamily="49" charset="0"/>
                <a:cs typeface="Courier New" pitchFamily="49" charset="0"/>
              </a:rPr>
              <a:t>if (</a:t>
            </a:r>
            <a:r>
              <a:rPr lang="en-US" altLang="zh-HK" dirty="0" err="1">
                <a:latin typeface="Courier New" pitchFamily="49" charset="0"/>
                <a:cs typeface="Courier New" pitchFamily="49" charset="0"/>
              </a:rPr>
              <a:t>event.stopPropagation</a:t>
            </a:r>
            <a:r>
              <a:rPr lang="en-US" altLang="zh-HK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marL="365760" lvl="1" indent="0">
              <a:buNone/>
            </a:pPr>
            <a:r>
              <a:rPr lang="en-US" altLang="zh-HK" dirty="0">
                <a:latin typeface="Courier New" pitchFamily="49" charset="0"/>
                <a:cs typeface="Courier New" pitchFamily="49" charset="0"/>
              </a:rPr>
              <a:t>        // W3C complaint browser</a:t>
            </a:r>
          </a:p>
          <a:p>
            <a:pPr marL="365760" lvl="1" indent="0">
              <a:buNone/>
            </a:pPr>
            <a:r>
              <a:rPr lang="en-US" altLang="zh-HK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altLang="zh-HK" dirty="0" err="1">
                <a:latin typeface="Courier New" pitchFamily="49" charset="0"/>
                <a:cs typeface="Courier New" pitchFamily="49" charset="0"/>
              </a:rPr>
              <a:t>event.stopPropagation</a:t>
            </a:r>
            <a:r>
              <a:rPr lang="en-US" altLang="zh-HK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365760" lvl="1" indent="0">
              <a:buNone/>
            </a:pPr>
            <a:r>
              <a:rPr lang="en-US" altLang="zh-HK" dirty="0">
                <a:latin typeface="Courier New" pitchFamily="49" charset="0"/>
                <a:cs typeface="Courier New" pitchFamily="49" charset="0"/>
              </a:rPr>
              <a:t> } else {</a:t>
            </a:r>
          </a:p>
          <a:p>
            <a:pPr marL="365760" lvl="1" indent="0">
              <a:buNone/>
            </a:pPr>
            <a:r>
              <a:rPr lang="en-US" altLang="zh-HK" dirty="0">
                <a:latin typeface="Courier New" pitchFamily="49" charset="0"/>
                <a:cs typeface="Courier New" pitchFamily="49" charset="0"/>
              </a:rPr>
              <a:t>        // IE browser</a:t>
            </a:r>
          </a:p>
          <a:p>
            <a:pPr marL="365760" lvl="1" indent="0">
              <a:buNone/>
            </a:pPr>
            <a:r>
              <a:rPr lang="en-US" altLang="zh-HK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altLang="zh-HK" dirty="0" err="1">
                <a:latin typeface="Courier New" pitchFamily="49" charset="0"/>
                <a:cs typeface="Courier New" pitchFamily="49" charset="0"/>
              </a:rPr>
              <a:t>event.cancelBubble</a:t>
            </a:r>
            <a:r>
              <a:rPr lang="en-US" altLang="zh-HK" dirty="0">
                <a:latin typeface="Courier New" pitchFamily="49" charset="0"/>
                <a:cs typeface="Courier New" pitchFamily="49" charset="0"/>
              </a:rPr>
              <a:t> = true;</a:t>
            </a:r>
          </a:p>
          <a:p>
            <a:pPr marL="365760" lvl="1" indent="0">
              <a:buNone/>
            </a:pPr>
            <a:r>
              <a:rPr lang="en-US" altLang="zh-HK" dirty="0">
                <a:latin typeface="Courier New" pitchFamily="49" charset="0"/>
                <a:cs typeface="Courier New" pitchFamily="49" charset="0"/>
              </a:rPr>
              <a:t> } </a:t>
            </a:r>
          </a:p>
          <a:p>
            <a:r>
              <a:rPr lang="en-US" altLang="zh-HK" dirty="0"/>
              <a:t>A shorter form of the above code:</a:t>
            </a:r>
          </a:p>
          <a:p>
            <a:pPr marL="0" indent="0">
              <a:buNone/>
            </a:pPr>
            <a:r>
              <a:rPr lang="en-US" altLang="zh-HK" dirty="0" err="1">
                <a:latin typeface="Courier New" pitchFamily="49" charset="0"/>
                <a:cs typeface="Courier New" pitchFamily="49" charset="0"/>
              </a:rPr>
              <a:t>event.stopPropagation</a:t>
            </a:r>
            <a:r>
              <a:rPr lang="en-US" altLang="zh-HK" dirty="0">
                <a:latin typeface="Courier New" pitchFamily="49" charset="0"/>
                <a:cs typeface="Courier New" pitchFamily="49" charset="0"/>
              </a:rPr>
              <a:t> ? </a:t>
            </a:r>
            <a:r>
              <a:rPr lang="en-US" altLang="zh-HK" dirty="0" err="1">
                <a:latin typeface="Courier New" pitchFamily="49" charset="0"/>
                <a:cs typeface="Courier New" pitchFamily="49" charset="0"/>
              </a:rPr>
              <a:t>event.stopPropagation</a:t>
            </a:r>
            <a:r>
              <a:rPr lang="en-US" altLang="zh-HK" dirty="0">
                <a:latin typeface="Courier New" pitchFamily="49" charset="0"/>
                <a:cs typeface="Courier New" pitchFamily="49" charset="0"/>
              </a:rPr>
              <a:t>() : (</a:t>
            </a:r>
            <a:r>
              <a:rPr lang="en-US" altLang="zh-HK" dirty="0" err="1">
                <a:latin typeface="Courier New" pitchFamily="49" charset="0"/>
                <a:cs typeface="Courier New" pitchFamily="49" charset="0"/>
              </a:rPr>
              <a:t>event.cancelBubble</a:t>
            </a:r>
            <a:r>
              <a:rPr lang="en-US" altLang="zh-HK" dirty="0">
                <a:latin typeface="Courier New" pitchFamily="49" charset="0"/>
                <a:cs typeface="Courier New" pitchFamily="49" charset="0"/>
              </a:rPr>
              <a:t>=true)</a:t>
            </a:r>
          </a:p>
          <a:p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20423512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HK" dirty="0"/>
              <a:t>Stop Event Propagation (</a:t>
            </a:r>
            <a:r>
              <a:rPr lang="en-US" altLang="zh-HK" dirty="0">
                <a:hlinkClick r:id="rId2" action="ppaction://hlinkfile"/>
              </a:rPr>
              <a:t>example</a:t>
            </a:r>
            <a:r>
              <a:rPr lang="en-US" altLang="zh-HK" dirty="0"/>
              <a:t>)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HK" sz="1500" dirty="0">
                <a:latin typeface="Courier New" pitchFamily="49" charset="0"/>
                <a:cs typeface="Courier New" pitchFamily="49" charset="0"/>
              </a:rPr>
              <a:t>&lt;link type="text/</a:t>
            </a:r>
            <a:r>
              <a:rPr lang="en-US" altLang="zh-HK" sz="1500" dirty="0" err="1">
                <a:latin typeface="Courier New" pitchFamily="49" charset="0"/>
                <a:cs typeface="Courier New" pitchFamily="49" charset="0"/>
              </a:rPr>
              <a:t>css</a:t>
            </a:r>
            <a:r>
              <a:rPr lang="en-US" altLang="zh-HK" sz="1500" dirty="0">
                <a:latin typeface="Courier New" pitchFamily="49" charset="0"/>
                <a:cs typeface="Courier New" pitchFamily="49" charset="0"/>
              </a:rPr>
              <a:t>" </a:t>
            </a:r>
            <a:r>
              <a:rPr lang="en-US" altLang="zh-HK" sz="1500" dirty="0" err="1">
                <a:latin typeface="Courier New" pitchFamily="49" charset="0"/>
                <a:cs typeface="Courier New" pitchFamily="49" charset="0"/>
              </a:rPr>
              <a:t>rel</a:t>
            </a:r>
            <a:r>
              <a:rPr lang="en-US" altLang="zh-HK" sz="1500" dirty="0">
                <a:latin typeface="Courier New" pitchFamily="49" charset="0"/>
                <a:cs typeface="Courier New" pitchFamily="49" charset="0"/>
              </a:rPr>
              <a:t>="</a:t>
            </a:r>
            <a:r>
              <a:rPr lang="en-US" altLang="zh-HK" sz="1500" dirty="0" err="1">
                <a:latin typeface="Courier New" pitchFamily="49" charset="0"/>
                <a:cs typeface="Courier New" pitchFamily="49" charset="0"/>
              </a:rPr>
              <a:t>stylesheet</a:t>
            </a:r>
            <a:r>
              <a:rPr lang="en-US" altLang="zh-HK" sz="1500" dirty="0">
                <a:latin typeface="Courier New" pitchFamily="49" charset="0"/>
                <a:cs typeface="Courier New" pitchFamily="49" charset="0"/>
              </a:rPr>
              <a:t>" </a:t>
            </a:r>
            <a:r>
              <a:rPr lang="en-US" altLang="zh-HK" sz="1500" dirty="0" err="1">
                <a:latin typeface="Courier New" pitchFamily="49" charset="0"/>
                <a:cs typeface="Courier New" pitchFamily="49" charset="0"/>
              </a:rPr>
              <a:t>href</a:t>
            </a:r>
            <a:r>
              <a:rPr lang="en-US" altLang="zh-HK" sz="1500" dirty="0">
                <a:latin typeface="Courier New" pitchFamily="49" charset="0"/>
                <a:cs typeface="Courier New" pitchFamily="49" charset="0"/>
              </a:rPr>
              <a:t>="evexample.css"&gt;</a:t>
            </a:r>
          </a:p>
          <a:p>
            <a:pPr marL="0" indent="0">
              <a:buNone/>
            </a:pPr>
            <a:r>
              <a:rPr lang="en-US" altLang="zh-HK" sz="1500" dirty="0">
                <a:latin typeface="Courier New" pitchFamily="49" charset="0"/>
                <a:cs typeface="Courier New" pitchFamily="49" charset="0"/>
              </a:rPr>
              <a:t>&lt;div class="A" </a:t>
            </a:r>
            <a:r>
              <a:rPr lang="en-US" altLang="zh-HK" sz="1500" dirty="0" err="1">
                <a:latin typeface="Courier New" pitchFamily="49" charset="0"/>
                <a:cs typeface="Courier New" pitchFamily="49" charset="0"/>
              </a:rPr>
              <a:t>onclick</a:t>
            </a:r>
            <a:r>
              <a:rPr lang="en-US" altLang="zh-HK" sz="1500" dirty="0">
                <a:latin typeface="Courier New" pitchFamily="49" charset="0"/>
                <a:cs typeface="Courier New" pitchFamily="49" charset="0"/>
              </a:rPr>
              <a:t>="</a:t>
            </a:r>
            <a:r>
              <a:rPr lang="en-US" altLang="zh-HK" sz="1500" dirty="0" err="1">
                <a:latin typeface="Courier New" pitchFamily="49" charset="0"/>
                <a:cs typeface="Courier New" pitchFamily="49" charset="0"/>
              </a:rPr>
              <a:t>changeColor</a:t>
            </a:r>
            <a:r>
              <a:rPr lang="en-US" altLang="zh-HK" sz="1500" dirty="0">
                <a:latin typeface="Courier New" pitchFamily="49" charset="0"/>
                <a:cs typeface="Courier New" pitchFamily="49" charset="0"/>
              </a:rPr>
              <a:t>(this, event)"&gt;A  </a:t>
            </a:r>
          </a:p>
          <a:p>
            <a:pPr marL="0" indent="0">
              <a:buNone/>
            </a:pPr>
            <a:r>
              <a:rPr lang="en-US" altLang="zh-HK" sz="1500" dirty="0">
                <a:latin typeface="Courier New" pitchFamily="49" charset="0"/>
                <a:cs typeface="Courier New" pitchFamily="49" charset="0"/>
              </a:rPr>
              <a:t>    &lt;div class="B" </a:t>
            </a:r>
            <a:r>
              <a:rPr lang="en-US" altLang="zh-HK" sz="1500" dirty="0" err="1">
                <a:latin typeface="Courier New" pitchFamily="49" charset="0"/>
                <a:cs typeface="Courier New" pitchFamily="49" charset="0"/>
              </a:rPr>
              <a:t>onclick</a:t>
            </a:r>
            <a:r>
              <a:rPr lang="en-US" altLang="zh-HK" sz="1500" dirty="0">
                <a:latin typeface="Courier New" pitchFamily="49" charset="0"/>
                <a:cs typeface="Courier New" pitchFamily="49" charset="0"/>
              </a:rPr>
              <a:t>="</a:t>
            </a:r>
            <a:r>
              <a:rPr lang="en-US" altLang="zh-HK" sz="1500" dirty="0" err="1">
                <a:latin typeface="Courier New" pitchFamily="49" charset="0"/>
                <a:cs typeface="Courier New" pitchFamily="49" charset="0"/>
              </a:rPr>
              <a:t>changeColor</a:t>
            </a:r>
            <a:r>
              <a:rPr lang="en-US" altLang="zh-HK" sz="1500" dirty="0">
                <a:latin typeface="Courier New" pitchFamily="49" charset="0"/>
                <a:cs typeface="Courier New" pitchFamily="49" charset="0"/>
              </a:rPr>
              <a:t>(this, event)"&gt;B</a:t>
            </a:r>
          </a:p>
          <a:p>
            <a:pPr marL="0" indent="0">
              <a:buNone/>
            </a:pPr>
            <a:r>
              <a:rPr lang="en-US" altLang="zh-HK" sz="1500" dirty="0">
                <a:latin typeface="Courier New" pitchFamily="49" charset="0"/>
                <a:cs typeface="Courier New" pitchFamily="49" charset="0"/>
              </a:rPr>
              <a:t>        &lt;div class="C" </a:t>
            </a:r>
            <a:r>
              <a:rPr lang="en-US" altLang="zh-HK" sz="1500" dirty="0" err="1">
                <a:latin typeface="Courier New" pitchFamily="49" charset="0"/>
                <a:cs typeface="Courier New" pitchFamily="49" charset="0"/>
              </a:rPr>
              <a:t>onclick</a:t>
            </a:r>
            <a:r>
              <a:rPr lang="en-US" altLang="zh-HK" sz="1500" dirty="0">
                <a:latin typeface="Courier New" pitchFamily="49" charset="0"/>
                <a:cs typeface="Courier New" pitchFamily="49" charset="0"/>
              </a:rPr>
              <a:t>="</a:t>
            </a:r>
            <a:r>
              <a:rPr lang="en-US" altLang="zh-HK" sz="1500" dirty="0" err="1">
                <a:latin typeface="Courier New" pitchFamily="49" charset="0"/>
                <a:cs typeface="Courier New" pitchFamily="49" charset="0"/>
              </a:rPr>
              <a:t>changeColor</a:t>
            </a:r>
            <a:r>
              <a:rPr lang="en-US" altLang="zh-HK" sz="1500" dirty="0">
                <a:latin typeface="Courier New" pitchFamily="49" charset="0"/>
                <a:cs typeface="Courier New" pitchFamily="49" charset="0"/>
              </a:rPr>
              <a:t>(this, event)"&gt;C&lt;/div&gt; </a:t>
            </a:r>
          </a:p>
          <a:p>
            <a:pPr marL="0" indent="0">
              <a:buNone/>
            </a:pPr>
            <a:r>
              <a:rPr lang="en-US" altLang="zh-HK" sz="1500" dirty="0">
                <a:latin typeface="Courier New" pitchFamily="49" charset="0"/>
                <a:cs typeface="Courier New" pitchFamily="49" charset="0"/>
              </a:rPr>
              <a:t>    &lt;/div&gt;</a:t>
            </a:r>
          </a:p>
          <a:p>
            <a:pPr marL="0" indent="0">
              <a:buNone/>
            </a:pPr>
            <a:r>
              <a:rPr lang="en-US" altLang="zh-HK" sz="1500" dirty="0">
                <a:latin typeface="Courier New" pitchFamily="49" charset="0"/>
                <a:cs typeface="Courier New" pitchFamily="49" charset="0"/>
              </a:rPr>
              <a:t>&lt;/div&gt;</a:t>
            </a:r>
          </a:p>
          <a:p>
            <a:pPr marL="0" indent="0">
              <a:buNone/>
            </a:pPr>
            <a:r>
              <a:rPr lang="en-US" altLang="zh-HK" sz="1500" dirty="0">
                <a:latin typeface="Courier New" pitchFamily="49" charset="0"/>
                <a:cs typeface="Courier New" pitchFamily="49" charset="0"/>
              </a:rPr>
              <a:t>&lt;script&gt;</a:t>
            </a:r>
          </a:p>
          <a:p>
            <a:pPr marL="0" indent="0">
              <a:buNone/>
            </a:pPr>
            <a:r>
              <a:rPr lang="en-US" altLang="zh-HK" sz="1500" dirty="0">
                <a:latin typeface="Courier New" pitchFamily="49" charset="0"/>
                <a:cs typeface="Courier New" pitchFamily="49" charset="0"/>
              </a:rPr>
              <a:t>function </a:t>
            </a:r>
            <a:r>
              <a:rPr lang="en-US" altLang="zh-HK" sz="1500" dirty="0" err="1">
                <a:latin typeface="Courier New" pitchFamily="49" charset="0"/>
                <a:cs typeface="Courier New" pitchFamily="49" charset="0"/>
              </a:rPr>
              <a:t>changeColor</a:t>
            </a:r>
            <a:r>
              <a:rPr lang="en-US" altLang="zh-HK" sz="1500" dirty="0">
                <a:latin typeface="Courier New" pitchFamily="49" charset="0"/>
                <a:cs typeface="Courier New" pitchFamily="49" charset="0"/>
              </a:rPr>
              <a:t>(element, event) {</a:t>
            </a:r>
          </a:p>
          <a:p>
            <a:pPr marL="0" indent="0">
              <a:buNone/>
            </a:pPr>
            <a:r>
              <a:rPr lang="en-US" altLang="zh-HK" sz="15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HK" sz="1500" dirty="0" err="1">
                <a:latin typeface="Courier New" pitchFamily="49" charset="0"/>
                <a:cs typeface="Courier New" pitchFamily="49" charset="0"/>
              </a:rPr>
              <a:t>element.style.backgroundColor</a:t>
            </a:r>
            <a:r>
              <a:rPr lang="en-US" altLang="zh-HK" sz="1500" dirty="0">
                <a:latin typeface="Courier New" pitchFamily="49" charset="0"/>
                <a:cs typeface="Courier New" pitchFamily="49" charset="0"/>
              </a:rPr>
              <a:t>='orange';</a:t>
            </a:r>
          </a:p>
          <a:p>
            <a:pPr marL="0" indent="0">
              <a:buNone/>
            </a:pPr>
            <a:r>
              <a:rPr lang="en-US" altLang="zh-HK" sz="1500" dirty="0">
                <a:latin typeface="Courier New" pitchFamily="49" charset="0"/>
                <a:cs typeface="Courier New" pitchFamily="49" charset="0"/>
              </a:rPr>
              <a:t>    alert(</a:t>
            </a:r>
            <a:r>
              <a:rPr lang="en-US" altLang="zh-HK" sz="1500" dirty="0" err="1">
                <a:latin typeface="Courier New" pitchFamily="49" charset="0"/>
                <a:cs typeface="Courier New" pitchFamily="49" charset="0"/>
              </a:rPr>
              <a:t>element.className</a:t>
            </a:r>
            <a:r>
              <a:rPr lang="en-US" altLang="zh-HK" sz="15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HK" sz="15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HK" sz="1500" dirty="0" err="1">
                <a:latin typeface="Courier New" pitchFamily="49" charset="0"/>
                <a:cs typeface="Courier New" pitchFamily="49" charset="0"/>
              </a:rPr>
              <a:t>element.style.backgroundColor</a:t>
            </a:r>
            <a:r>
              <a:rPr lang="en-US" altLang="zh-HK" sz="1500" dirty="0">
                <a:latin typeface="Courier New" pitchFamily="49" charset="0"/>
                <a:cs typeface="Courier New" pitchFamily="49" charset="0"/>
              </a:rPr>
              <a:t> = '';</a:t>
            </a:r>
          </a:p>
          <a:p>
            <a:pPr marL="0" indent="0">
              <a:buNone/>
            </a:pPr>
            <a:r>
              <a:rPr lang="en-US" altLang="zh-HK" sz="1500" dirty="0">
                <a:latin typeface="Courier New" pitchFamily="49" charset="0"/>
                <a:cs typeface="Courier New" pitchFamily="49" charset="0"/>
              </a:rPr>
              <a:t>    if (</a:t>
            </a:r>
            <a:r>
              <a:rPr lang="en-US" altLang="zh-HK" sz="1500" dirty="0" err="1">
                <a:latin typeface="Courier New" pitchFamily="49" charset="0"/>
                <a:cs typeface="Courier New" pitchFamily="49" charset="0"/>
              </a:rPr>
              <a:t>event.stopPropagation</a:t>
            </a:r>
            <a:r>
              <a:rPr lang="en-US" altLang="zh-HK" sz="1500" dirty="0">
                <a:latin typeface="Courier New" pitchFamily="49" charset="0"/>
                <a:cs typeface="Courier New" pitchFamily="49" charset="0"/>
              </a:rPr>
              <a:t>) // W3C complaint browser</a:t>
            </a:r>
          </a:p>
          <a:p>
            <a:pPr marL="0" indent="0">
              <a:buNone/>
            </a:pPr>
            <a:r>
              <a:rPr lang="en-US" altLang="zh-HK" sz="15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altLang="zh-HK" sz="1500" dirty="0" err="1">
                <a:latin typeface="Courier New" pitchFamily="49" charset="0"/>
                <a:cs typeface="Courier New" pitchFamily="49" charset="0"/>
              </a:rPr>
              <a:t>event.stopPropagation</a:t>
            </a:r>
            <a:r>
              <a:rPr lang="en-US" altLang="zh-HK" sz="150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0" indent="0">
              <a:buNone/>
            </a:pPr>
            <a:r>
              <a:rPr lang="en-US" altLang="zh-HK" sz="1500" dirty="0">
                <a:latin typeface="Courier New" pitchFamily="49" charset="0"/>
                <a:cs typeface="Courier New" pitchFamily="49" charset="0"/>
              </a:rPr>
              <a:t>    else // IE browser</a:t>
            </a:r>
          </a:p>
          <a:p>
            <a:pPr marL="0" indent="0">
              <a:buNone/>
            </a:pPr>
            <a:r>
              <a:rPr lang="en-US" altLang="zh-HK" sz="15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altLang="zh-HK" sz="1500" dirty="0" err="1">
                <a:latin typeface="Courier New" pitchFamily="49" charset="0"/>
                <a:cs typeface="Courier New" pitchFamily="49" charset="0"/>
              </a:rPr>
              <a:t>event.cancelBubble</a:t>
            </a:r>
            <a:r>
              <a:rPr lang="en-US" altLang="zh-HK" sz="1500" dirty="0">
                <a:latin typeface="Courier New" pitchFamily="49" charset="0"/>
                <a:cs typeface="Courier New" pitchFamily="49" charset="0"/>
              </a:rPr>
              <a:t> = true;</a:t>
            </a:r>
          </a:p>
          <a:p>
            <a:pPr marL="0" indent="0">
              <a:buNone/>
            </a:pPr>
            <a:r>
              <a:rPr lang="en-US" altLang="zh-HK" sz="15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None/>
            </a:pPr>
            <a:r>
              <a:rPr lang="en-US" altLang="zh-HK" sz="1500" dirty="0">
                <a:latin typeface="Courier New" pitchFamily="49" charset="0"/>
                <a:cs typeface="Courier New" pitchFamily="49" charset="0"/>
              </a:rPr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2022252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HK" dirty="0"/>
              <a:t>Originating Element (target) and Current Element (this)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HK" sz="2400" dirty="0"/>
              <a:t>The target (or originating element) of the event is the innermost element which triggered the event.</a:t>
            </a:r>
          </a:p>
          <a:p>
            <a:r>
              <a:rPr lang="en-US" altLang="zh-HK" sz="2400" dirty="0"/>
              <a:t>For IE, </a:t>
            </a:r>
            <a:r>
              <a:rPr lang="en-US" altLang="zh-HK" sz="2400" dirty="0" err="1">
                <a:latin typeface="Courier New" pitchFamily="49" charset="0"/>
                <a:cs typeface="Courier New" pitchFamily="49" charset="0"/>
              </a:rPr>
              <a:t>event.srcElement</a:t>
            </a:r>
            <a:r>
              <a:rPr lang="en-US" altLang="zh-HK" sz="2400" dirty="0"/>
              <a:t> is the target.  For all W3C-compliant browsers, use </a:t>
            </a:r>
            <a:r>
              <a:rPr lang="en-US" altLang="zh-HK" sz="2400" dirty="0" err="1">
                <a:latin typeface="Courier New" pitchFamily="49" charset="0"/>
                <a:cs typeface="Courier New" pitchFamily="49" charset="0"/>
              </a:rPr>
              <a:t>event.target</a:t>
            </a:r>
            <a:endParaRPr lang="en-US" altLang="zh-HK" sz="2400" dirty="0">
              <a:latin typeface="Courier New" pitchFamily="49" charset="0"/>
              <a:cs typeface="Courier New" pitchFamily="49" charset="0"/>
            </a:endParaRPr>
          </a:p>
          <a:p>
            <a:r>
              <a:rPr lang="en-US" altLang="zh-HK" sz="2400" dirty="0"/>
              <a:t>Hence, the cross-browser code is usually like this:</a:t>
            </a:r>
          </a:p>
          <a:p>
            <a:pPr marL="0" indent="0">
              <a:buNone/>
            </a:pPr>
            <a:endParaRPr lang="en-US" altLang="zh-HK" dirty="0"/>
          </a:p>
          <a:p>
            <a:pPr marL="365760" lvl="1" indent="0">
              <a:buNone/>
            </a:pPr>
            <a:r>
              <a:rPr lang="en-US" altLang="zh-HK" sz="2100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HK" sz="2100" dirty="0">
                <a:latin typeface="Courier New" pitchFamily="49" charset="0"/>
                <a:cs typeface="Courier New" pitchFamily="49" charset="0"/>
              </a:rPr>
              <a:t> target = </a:t>
            </a:r>
            <a:r>
              <a:rPr lang="en-US" altLang="zh-HK" sz="2100" dirty="0" err="1">
                <a:latin typeface="Courier New" pitchFamily="49" charset="0"/>
                <a:cs typeface="Courier New" pitchFamily="49" charset="0"/>
              </a:rPr>
              <a:t>event.target</a:t>
            </a:r>
            <a:r>
              <a:rPr lang="en-US" altLang="zh-HK" sz="2100" dirty="0">
                <a:latin typeface="Courier New" pitchFamily="49" charset="0"/>
                <a:cs typeface="Courier New" pitchFamily="49" charset="0"/>
              </a:rPr>
              <a:t> || </a:t>
            </a:r>
            <a:r>
              <a:rPr lang="en-US" altLang="zh-HK" sz="2100" dirty="0" err="1">
                <a:latin typeface="Courier New" pitchFamily="49" charset="0"/>
                <a:cs typeface="Courier New" pitchFamily="49" charset="0"/>
              </a:rPr>
              <a:t>event.srcElement</a:t>
            </a:r>
            <a:endParaRPr lang="en-US" altLang="zh-HK" sz="2100" dirty="0">
              <a:latin typeface="Courier New" pitchFamily="49" charset="0"/>
              <a:cs typeface="Courier New" pitchFamily="49" charset="0"/>
            </a:endParaRPr>
          </a:p>
          <a:p>
            <a:endParaRPr lang="en-US" altLang="zh-HK" dirty="0"/>
          </a:p>
          <a:p>
            <a:r>
              <a:rPr lang="en-US" altLang="zh-HK" sz="2400" dirty="0"/>
              <a:t>When handlers trigger on parent elements containing the originating element:</a:t>
            </a:r>
          </a:p>
          <a:p>
            <a:endParaRPr lang="en-US" altLang="zh-HK" sz="2400" dirty="0"/>
          </a:p>
          <a:p>
            <a:pPr lvl="1"/>
            <a:r>
              <a:rPr lang="en-US" altLang="zh-HK" dirty="0" err="1">
                <a:latin typeface="Courier New" pitchFamily="49" charset="0"/>
                <a:cs typeface="Courier New" pitchFamily="49" charset="0"/>
              </a:rPr>
              <a:t>event.target</a:t>
            </a:r>
            <a:r>
              <a:rPr lang="en-US" altLang="zh-HK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en-US" altLang="zh-HK" dirty="0" err="1">
                <a:latin typeface="Courier New" pitchFamily="49" charset="0"/>
                <a:cs typeface="Courier New" pitchFamily="49" charset="0"/>
              </a:rPr>
              <a:t>srcElement</a:t>
            </a:r>
            <a:r>
              <a:rPr lang="en-US" altLang="zh-HK" dirty="0"/>
              <a:t> – refers to the same originating element.</a:t>
            </a:r>
          </a:p>
          <a:p>
            <a:pPr lvl="1"/>
            <a:r>
              <a:rPr lang="en-US" altLang="zh-HK" dirty="0">
                <a:latin typeface="Courier New" pitchFamily="49" charset="0"/>
                <a:cs typeface="Courier New" pitchFamily="49" charset="0"/>
              </a:rPr>
              <a:t>this</a:t>
            </a:r>
            <a:r>
              <a:rPr lang="en-US" altLang="zh-HK" dirty="0"/>
              <a:t> – refers to the current element whose event handler is being called for the event.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38695399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HK" dirty="0"/>
              <a:t>Originating Element (target) and Current Element (this) </a:t>
            </a:r>
            <a:r>
              <a:rPr lang="en-US" altLang="zh-HK" dirty="0">
                <a:hlinkClick r:id="rId2" action="ppaction://hlinkfile"/>
              </a:rPr>
              <a:t>Example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HK" sz="1600" dirty="0">
                <a:latin typeface="Courier New" pitchFamily="49" charset="0"/>
                <a:cs typeface="Courier New" pitchFamily="49" charset="0"/>
              </a:rPr>
              <a:t>&lt;div class="A" </a:t>
            </a:r>
            <a:r>
              <a:rPr lang="en-US" altLang="zh-HK" sz="1600" dirty="0" err="1">
                <a:latin typeface="Courier New" pitchFamily="49" charset="0"/>
                <a:cs typeface="Courier New" pitchFamily="49" charset="0"/>
              </a:rPr>
              <a:t>onclick</a:t>
            </a:r>
            <a:r>
              <a:rPr lang="en-US" altLang="zh-HK" sz="1600" dirty="0">
                <a:latin typeface="Courier New" pitchFamily="49" charset="0"/>
                <a:cs typeface="Courier New" pitchFamily="49" charset="0"/>
              </a:rPr>
              <a:t>="</a:t>
            </a:r>
            <a:r>
              <a:rPr lang="en-US" altLang="zh-HK" sz="1600" dirty="0" err="1">
                <a:latin typeface="Courier New" pitchFamily="49" charset="0"/>
                <a:cs typeface="Courier New" pitchFamily="49" charset="0"/>
              </a:rPr>
              <a:t>changeColor</a:t>
            </a:r>
            <a:r>
              <a:rPr lang="en-US" altLang="zh-HK" sz="1600" dirty="0">
                <a:latin typeface="Courier New" pitchFamily="49" charset="0"/>
                <a:cs typeface="Courier New" pitchFamily="49" charset="0"/>
              </a:rPr>
              <a:t>(this, event)"&gt;A  </a:t>
            </a:r>
          </a:p>
          <a:p>
            <a:pPr marL="0" indent="0">
              <a:buNone/>
            </a:pPr>
            <a:r>
              <a:rPr lang="en-US" altLang="zh-HK" sz="1600" dirty="0">
                <a:latin typeface="Courier New" pitchFamily="49" charset="0"/>
                <a:cs typeface="Courier New" pitchFamily="49" charset="0"/>
              </a:rPr>
              <a:t>    &lt;div class="B" </a:t>
            </a:r>
            <a:r>
              <a:rPr lang="en-US" altLang="zh-HK" sz="1600" dirty="0" err="1">
                <a:latin typeface="Courier New" pitchFamily="49" charset="0"/>
                <a:cs typeface="Courier New" pitchFamily="49" charset="0"/>
              </a:rPr>
              <a:t>onclick</a:t>
            </a:r>
            <a:r>
              <a:rPr lang="en-US" altLang="zh-HK" sz="1600" dirty="0">
                <a:latin typeface="Courier New" pitchFamily="49" charset="0"/>
                <a:cs typeface="Courier New" pitchFamily="49" charset="0"/>
              </a:rPr>
              <a:t>="</a:t>
            </a:r>
            <a:r>
              <a:rPr lang="en-US" altLang="zh-HK" sz="1600" dirty="0" err="1">
                <a:latin typeface="Courier New" pitchFamily="49" charset="0"/>
                <a:cs typeface="Courier New" pitchFamily="49" charset="0"/>
              </a:rPr>
              <a:t>changeColor</a:t>
            </a:r>
            <a:r>
              <a:rPr lang="en-US" altLang="zh-HK" sz="1600" dirty="0">
                <a:latin typeface="Courier New" pitchFamily="49" charset="0"/>
                <a:cs typeface="Courier New" pitchFamily="49" charset="0"/>
              </a:rPr>
              <a:t>(this, event)"&gt;B</a:t>
            </a:r>
          </a:p>
          <a:p>
            <a:pPr marL="0" indent="0">
              <a:buNone/>
            </a:pPr>
            <a:r>
              <a:rPr lang="en-US" altLang="zh-HK" sz="1600" dirty="0">
                <a:latin typeface="Courier New" pitchFamily="49" charset="0"/>
                <a:cs typeface="Courier New" pitchFamily="49" charset="0"/>
              </a:rPr>
              <a:t>        &lt;div class="C" </a:t>
            </a:r>
            <a:r>
              <a:rPr lang="en-US" altLang="zh-HK" sz="1600" dirty="0" err="1">
                <a:latin typeface="Courier New" pitchFamily="49" charset="0"/>
                <a:cs typeface="Courier New" pitchFamily="49" charset="0"/>
              </a:rPr>
              <a:t>onclick</a:t>
            </a:r>
            <a:r>
              <a:rPr lang="en-US" altLang="zh-HK" sz="1600" dirty="0">
                <a:latin typeface="Courier New" pitchFamily="49" charset="0"/>
                <a:cs typeface="Courier New" pitchFamily="49" charset="0"/>
              </a:rPr>
              <a:t>="</a:t>
            </a:r>
            <a:r>
              <a:rPr lang="en-US" altLang="zh-HK" sz="1600" dirty="0" err="1">
                <a:latin typeface="Courier New" pitchFamily="49" charset="0"/>
                <a:cs typeface="Courier New" pitchFamily="49" charset="0"/>
              </a:rPr>
              <a:t>changeColor</a:t>
            </a:r>
            <a:r>
              <a:rPr lang="en-US" altLang="zh-HK" sz="1600" dirty="0">
                <a:latin typeface="Courier New" pitchFamily="49" charset="0"/>
                <a:cs typeface="Courier New" pitchFamily="49" charset="0"/>
              </a:rPr>
              <a:t>(this, event)"&gt;C</a:t>
            </a:r>
          </a:p>
          <a:p>
            <a:pPr marL="0" indent="0">
              <a:buNone/>
            </a:pPr>
            <a:r>
              <a:rPr lang="en-US" altLang="zh-HK" sz="1600" dirty="0">
                <a:latin typeface="Courier New" pitchFamily="49" charset="0"/>
                <a:cs typeface="Courier New" pitchFamily="49" charset="0"/>
              </a:rPr>
              <a:t>        &lt;/div&gt; </a:t>
            </a:r>
          </a:p>
          <a:p>
            <a:pPr marL="0" indent="0">
              <a:buNone/>
            </a:pPr>
            <a:r>
              <a:rPr lang="en-US" altLang="zh-HK" sz="1600" dirty="0">
                <a:latin typeface="Courier New" pitchFamily="49" charset="0"/>
                <a:cs typeface="Courier New" pitchFamily="49" charset="0"/>
              </a:rPr>
              <a:t>    &lt;/div&gt;</a:t>
            </a:r>
          </a:p>
          <a:p>
            <a:pPr marL="0" indent="0">
              <a:buNone/>
            </a:pPr>
            <a:r>
              <a:rPr lang="en-US" altLang="zh-HK" sz="1600" dirty="0">
                <a:latin typeface="Courier New" pitchFamily="49" charset="0"/>
                <a:cs typeface="Courier New" pitchFamily="49" charset="0"/>
              </a:rPr>
              <a:t>&lt;/div&gt;</a:t>
            </a:r>
          </a:p>
          <a:p>
            <a:pPr marL="0" indent="0">
              <a:buNone/>
            </a:pPr>
            <a:r>
              <a:rPr lang="en-US" altLang="zh-HK" sz="1600" dirty="0">
                <a:latin typeface="Courier New" pitchFamily="49" charset="0"/>
                <a:cs typeface="Courier New" pitchFamily="49" charset="0"/>
              </a:rPr>
              <a:t>&lt;script&gt;</a:t>
            </a:r>
          </a:p>
          <a:p>
            <a:pPr marL="0" indent="0">
              <a:buNone/>
            </a:pPr>
            <a:r>
              <a:rPr lang="en-US" altLang="zh-HK" sz="1600" dirty="0">
                <a:latin typeface="Courier New" pitchFamily="49" charset="0"/>
                <a:cs typeface="Courier New" pitchFamily="49" charset="0"/>
              </a:rPr>
              <a:t>function </a:t>
            </a:r>
            <a:r>
              <a:rPr lang="en-US" altLang="zh-HK" sz="1600" dirty="0" err="1">
                <a:latin typeface="Courier New" pitchFamily="49" charset="0"/>
                <a:cs typeface="Courier New" pitchFamily="49" charset="0"/>
              </a:rPr>
              <a:t>changeColor</a:t>
            </a:r>
            <a:r>
              <a:rPr lang="en-US" altLang="zh-HK" sz="1600" dirty="0">
                <a:latin typeface="Courier New" pitchFamily="49" charset="0"/>
                <a:cs typeface="Courier New" pitchFamily="49" charset="0"/>
              </a:rPr>
              <a:t>(element, event) {</a:t>
            </a:r>
          </a:p>
          <a:p>
            <a:pPr marL="0" indent="0">
              <a:buNone/>
            </a:pPr>
            <a:r>
              <a:rPr lang="en-US" altLang="zh-HK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HK" sz="1600" dirty="0" err="1">
                <a:latin typeface="Courier New" pitchFamily="49" charset="0"/>
                <a:cs typeface="Courier New" pitchFamily="49" charset="0"/>
              </a:rPr>
              <a:t>element.style.backgroundColor</a:t>
            </a:r>
            <a:r>
              <a:rPr lang="en-US" altLang="zh-HK" sz="1600" dirty="0">
                <a:latin typeface="Courier New" pitchFamily="49" charset="0"/>
                <a:cs typeface="Courier New" pitchFamily="49" charset="0"/>
              </a:rPr>
              <a:t>='orange';</a:t>
            </a:r>
          </a:p>
          <a:p>
            <a:pPr marL="0" indent="0">
              <a:buNone/>
            </a:pPr>
            <a:r>
              <a:rPr lang="en-US" altLang="zh-HK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HK" sz="1600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HK" sz="1600" dirty="0">
                <a:latin typeface="Courier New" pitchFamily="49" charset="0"/>
                <a:cs typeface="Courier New" pitchFamily="49" charset="0"/>
              </a:rPr>
              <a:t> target = </a:t>
            </a:r>
            <a:r>
              <a:rPr lang="en-US" altLang="zh-HK" sz="1600" dirty="0" err="1">
                <a:latin typeface="Courier New" pitchFamily="49" charset="0"/>
                <a:cs typeface="Courier New" pitchFamily="49" charset="0"/>
              </a:rPr>
              <a:t>event.target</a:t>
            </a:r>
            <a:r>
              <a:rPr lang="en-US" altLang="zh-HK" sz="1600" dirty="0">
                <a:latin typeface="Courier New" pitchFamily="49" charset="0"/>
                <a:cs typeface="Courier New" pitchFamily="49" charset="0"/>
              </a:rPr>
              <a:t> || </a:t>
            </a:r>
            <a:r>
              <a:rPr lang="en-US" altLang="zh-HK" sz="1600" dirty="0" err="1">
                <a:latin typeface="Courier New" pitchFamily="49" charset="0"/>
                <a:cs typeface="Courier New" pitchFamily="49" charset="0"/>
              </a:rPr>
              <a:t>event.srcElement</a:t>
            </a:r>
            <a:endParaRPr lang="en-US" altLang="zh-HK" sz="16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altLang="zh-HK" sz="1600" dirty="0">
                <a:latin typeface="Courier New" pitchFamily="49" charset="0"/>
                <a:cs typeface="Courier New" pitchFamily="49" charset="0"/>
              </a:rPr>
              <a:t>    alert("this = " + </a:t>
            </a:r>
            <a:r>
              <a:rPr lang="en-US" altLang="zh-HK" sz="1600" dirty="0" err="1">
                <a:latin typeface="Courier New" pitchFamily="49" charset="0"/>
                <a:cs typeface="Courier New" pitchFamily="49" charset="0"/>
              </a:rPr>
              <a:t>element.className</a:t>
            </a:r>
            <a:r>
              <a:rPr lang="en-US" altLang="zh-HK" sz="1600" dirty="0">
                <a:latin typeface="Courier New" pitchFamily="49" charset="0"/>
                <a:cs typeface="Courier New" pitchFamily="49" charset="0"/>
              </a:rPr>
              <a:t> + ", target = " + </a:t>
            </a:r>
            <a:r>
              <a:rPr lang="en-US" altLang="zh-HK" sz="1600" dirty="0" err="1">
                <a:latin typeface="Courier New" pitchFamily="49" charset="0"/>
                <a:cs typeface="Courier New" pitchFamily="49" charset="0"/>
              </a:rPr>
              <a:t>target.className</a:t>
            </a:r>
            <a:r>
              <a:rPr lang="en-US" altLang="zh-HK" sz="16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HK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HK" sz="1600" dirty="0" err="1">
                <a:latin typeface="Courier New" pitchFamily="49" charset="0"/>
                <a:cs typeface="Courier New" pitchFamily="49" charset="0"/>
              </a:rPr>
              <a:t>element.style.backgroundColor</a:t>
            </a:r>
            <a:r>
              <a:rPr lang="en-US" altLang="zh-HK" sz="1600" dirty="0">
                <a:latin typeface="Courier New" pitchFamily="49" charset="0"/>
                <a:cs typeface="Courier New" pitchFamily="49" charset="0"/>
              </a:rPr>
              <a:t> = '';</a:t>
            </a:r>
          </a:p>
          <a:p>
            <a:pPr marL="0" indent="0">
              <a:buNone/>
            </a:pPr>
            <a:r>
              <a:rPr lang="en-US" altLang="zh-HK" sz="16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None/>
            </a:pPr>
            <a:r>
              <a:rPr lang="en-US" altLang="zh-HK" sz="1600" dirty="0">
                <a:latin typeface="Courier New" pitchFamily="49" charset="0"/>
                <a:cs typeface="Courier New" pitchFamily="49" charset="0"/>
              </a:rPr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737841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HK" dirty="0"/>
              <a:t>Handling Events in Capturing Phrase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661872"/>
          </a:xfrm>
        </p:spPr>
        <p:txBody>
          <a:bodyPr>
            <a:normAutofit fontScale="32500" lnSpcReduction="20000"/>
          </a:bodyPr>
          <a:lstStyle/>
          <a:p>
            <a:r>
              <a:rPr lang="en-US" altLang="zh-HK" sz="6200" dirty="0"/>
              <a:t>Use </a:t>
            </a:r>
            <a:r>
              <a:rPr lang="en-US" altLang="zh-HK" sz="6200" dirty="0" err="1">
                <a:latin typeface="Courier New" pitchFamily="49" charset="0"/>
                <a:cs typeface="Courier New" pitchFamily="49" charset="0"/>
              </a:rPr>
              <a:t>addEventListener</a:t>
            </a:r>
            <a:r>
              <a:rPr lang="en-US" altLang="zh-HK" sz="6200" dirty="0"/>
              <a:t> to add </a:t>
            </a:r>
            <a:r>
              <a:rPr lang="en-US" altLang="zh-HK" sz="6200"/>
              <a:t>event listeners </a:t>
            </a:r>
            <a:r>
              <a:rPr lang="en-US" altLang="zh-HK" sz="6200" dirty="0"/>
              <a:t>for capturing phrase (</a:t>
            </a:r>
            <a:r>
              <a:rPr lang="en-US" altLang="zh-HK" sz="6200" dirty="0">
                <a:hlinkClick r:id="rId2" action="ppaction://hlinkfile"/>
              </a:rPr>
              <a:t>view</a:t>
            </a:r>
            <a:r>
              <a:rPr lang="en-US" altLang="zh-HK" sz="6200" dirty="0"/>
              <a:t>):</a:t>
            </a:r>
          </a:p>
          <a:p>
            <a:pPr marL="0" indent="0">
              <a:buNone/>
            </a:pPr>
            <a:r>
              <a:rPr lang="en-US" altLang="zh-HK" sz="4300" dirty="0">
                <a:latin typeface="Courier New" pitchFamily="49" charset="0"/>
                <a:cs typeface="Courier New" pitchFamily="49" charset="0"/>
              </a:rPr>
              <a:t>&lt;div class="A"&gt;A  </a:t>
            </a:r>
          </a:p>
          <a:p>
            <a:pPr marL="0" indent="0">
              <a:buNone/>
            </a:pPr>
            <a:r>
              <a:rPr lang="en-US" altLang="zh-HK" sz="4300" dirty="0">
                <a:latin typeface="Courier New" pitchFamily="49" charset="0"/>
                <a:cs typeface="Courier New" pitchFamily="49" charset="0"/>
              </a:rPr>
              <a:t>    &lt;div class="B"&gt;B</a:t>
            </a:r>
          </a:p>
          <a:p>
            <a:pPr marL="0" indent="0">
              <a:buNone/>
            </a:pPr>
            <a:r>
              <a:rPr lang="en-US" altLang="zh-HK" sz="4300" dirty="0">
                <a:latin typeface="Courier New" pitchFamily="49" charset="0"/>
                <a:cs typeface="Courier New" pitchFamily="49" charset="0"/>
              </a:rPr>
              <a:t>        &lt;div class="C"&gt;C&lt;/div&gt; </a:t>
            </a:r>
          </a:p>
          <a:p>
            <a:pPr marL="0" indent="0">
              <a:buNone/>
            </a:pPr>
            <a:r>
              <a:rPr lang="en-US" altLang="zh-HK" sz="4300" dirty="0">
                <a:latin typeface="Courier New" pitchFamily="49" charset="0"/>
                <a:cs typeface="Courier New" pitchFamily="49" charset="0"/>
              </a:rPr>
              <a:t>    &lt;/div&gt;</a:t>
            </a:r>
          </a:p>
          <a:p>
            <a:pPr marL="0" indent="0">
              <a:buNone/>
            </a:pPr>
            <a:r>
              <a:rPr lang="en-US" altLang="zh-HK" sz="4300" dirty="0">
                <a:latin typeface="Courier New" pitchFamily="49" charset="0"/>
                <a:cs typeface="Courier New" pitchFamily="49" charset="0"/>
              </a:rPr>
              <a:t>&lt;/div&gt;</a:t>
            </a:r>
          </a:p>
          <a:p>
            <a:pPr marL="0" indent="0">
              <a:buNone/>
            </a:pPr>
            <a:r>
              <a:rPr lang="en-US" altLang="zh-HK" sz="4300" dirty="0">
                <a:latin typeface="Courier New" pitchFamily="49" charset="0"/>
                <a:cs typeface="Courier New" pitchFamily="49" charset="0"/>
              </a:rPr>
              <a:t>&lt;script&gt;</a:t>
            </a:r>
          </a:p>
          <a:p>
            <a:pPr marL="0" indent="0">
              <a:buNone/>
            </a:pPr>
            <a:r>
              <a:rPr lang="en-US" altLang="zh-HK" sz="4300" dirty="0">
                <a:latin typeface="Courier New" pitchFamily="49" charset="0"/>
                <a:cs typeface="Courier New" pitchFamily="49" charset="0"/>
              </a:rPr>
              <a:t>// get all &lt;div&gt; elements</a:t>
            </a:r>
          </a:p>
          <a:p>
            <a:pPr marL="0" indent="0">
              <a:buNone/>
            </a:pPr>
            <a:r>
              <a:rPr lang="en-US" altLang="zh-HK" sz="4300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HK" sz="4300" dirty="0">
                <a:latin typeface="Courier New" pitchFamily="49" charset="0"/>
                <a:cs typeface="Courier New" pitchFamily="49" charset="0"/>
              </a:rPr>
              <a:t> elements = </a:t>
            </a:r>
            <a:r>
              <a:rPr lang="en-US" altLang="zh-HK" sz="4300" dirty="0" err="1">
                <a:latin typeface="Courier New" pitchFamily="49" charset="0"/>
                <a:cs typeface="Courier New" pitchFamily="49" charset="0"/>
              </a:rPr>
              <a:t>document.getElementsByTagName</a:t>
            </a:r>
            <a:r>
              <a:rPr lang="en-US" altLang="zh-HK" sz="4300" dirty="0">
                <a:latin typeface="Courier New" pitchFamily="49" charset="0"/>
                <a:cs typeface="Courier New" pitchFamily="49" charset="0"/>
              </a:rPr>
              <a:t>('div'); </a:t>
            </a:r>
          </a:p>
          <a:p>
            <a:pPr marL="0" indent="0">
              <a:buNone/>
            </a:pPr>
            <a:r>
              <a:rPr lang="en-US" altLang="zh-HK" sz="4300" dirty="0">
                <a:latin typeface="Courier New" pitchFamily="49" charset="0"/>
                <a:cs typeface="Courier New" pitchFamily="49" charset="0"/>
              </a:rPr>
              <a:t>// add event handlers for event capturing phrase</a:t>
            </a:r>
          </a:p>
          <a:p>
            <a:pPr marL="0" indent="0">
              <a:buNone/>
            </a:pPr>
            <a:r>
              <a:rPr lang="en-US" altLang="zh-HK" sz="4300" dirty="0">
                <a:latin typeface="Courier New" pitchFamily="49" charset="0"/>
                <a:cs typeface="Courier New" pitchFamily="49" charset="0"/>
              </a:rPr>
              <a:t>for(</a:t>
            </a:r>
            <a:r>
              <a:rPr lang="en-US" altLang="zh-HK" sz="4300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HK" sz="43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HK" sz="43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HK" sz="4300" dirty="0"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altLang="zh-HK" sz="43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HK" sz="4300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HK" sz="4300" dirty="0" err="1">
                <a:latin typeface="Courier New" pitchFamily="49" charset="0"/>
                <a:cs typeface="Courier New" pitchFamily="49" charset="0"/>
              </a:rPr>
              <a:t>elements.length</a:t>
            </a:r>
            <a:r>
              <a:rPr lang="en-US" altLang="zh-HK" sz="4300" dirty="0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altLang="zh-HK" sz="43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HK" sz="4300" dirty="0">
                <a:latin typeface="Courier New" pitchFamily="49" charset="0"/>
                <a:cs typeface="Courier New" pitchFamily="49" charset="0"/>
              </a:rPr>
              <a:t>++) {</a:t>
            </a:r>
          </a:p>
          <a:p>
            <a:pPr marL="0" indent="0">
              <a:buNone/>
            </a:pPr>
            <a:r>
              <a:rPr lang="en-US" altLang="zh-HK" sz="4300" dirty="0">
                <a:latin typeface="Courier New" pitchFamily="49" charset="0"/>
                <a:cs typeface="Courier New" pitchFamily="49" charset="0"/>
              </a:rPr>
              <a:t>  elements[</a:t>
            </a:r>
            <a:r>
              <a:rPr lang="en-US" altLang="zh-HK" sz="43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HK" sz="4300" dirty="0">
                <a:latin typeface="Courier New" pitchFamily="49" charset="0"/>
                <a:cs typeface="Courier New" pitchFamily="49" charset="0"/>
              </a:rPr>
              <a:t>].</a:t>
            </a:r>
            <a:r>
              <a:rPr lang="en-US" altLang="zh-HK" sz="4300" dirty="0" err="1">
                <a:latin typeface="Courier New" pitchFamily="49" charset="0"/>
                <a:cs typeface="Courier New" pitchFamily="49" charset="0"/>
              </a:rPr>
              <a:t>addEventListener</a:t>
            </a:r>
            <a:r>
              <a:rPr lang="en-US" altLang="zh-HK" sz="4300" dirty="0">
                <a:latin typeface="Courier New" pitchFamily="49" charset="0"/>
                <a:cs typeface="Courier New" pitchFamily="49" charset="0"/>
              </a:rPr>
              <a:t>("click", </a:t>
            </a:r>
            <a:r>
              <a:rPr lang="en-US" altLang="zh-HK" sz="4300" dirty="0" err="1">
                <a:latin typeface="Courier New" pitchFamily="49" charset="0"/>
                <a:cs typeface="Courier New" pitchFamily="49" charset="0"/>
              </a:rPr>
              <a:t>changeColor</a:t>
            </a:r>
            <a:r>
              <a:rPr lang="en-US" altLang="zh-HK" sz="43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zh-HK" sz="4300" b="1" dirty="0">
                <a:latin typeface="Courier New" pitchFamily="49" charset="0"/>
                <a:cs typeface="Courier New" pitchFamily="49" charset="0"/>
              </a:rPr>
              <a:t>true</a:t>
            </a:r>
            <a:r>
              <a:rPr lang="en-US" altLang="zh-HK" sz="4300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0" indent="0">
              <a:buNone/>
            </a:pPr>
            <a:r>
              <a:rPr lang="en-US" altLang="zh-HK" sz="43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None/>
            </a:pPr>
            <a:r>
              <a:rPr lang="en-US" altLang="zh-HK" sz="4300" dirty="0">
                <a:latin typeface="Courier New" pitchFamily="49" charset="0"/>
                <a:cs typeface="Courier New" pitchFamily="49" charset="0"/>
              </a:rPr>
              <a:t>function </a:t>
            </a:r>
            <a:r>
              <a:rPr lang="en-US" altLang="zh-HK" sz="4300" dirty="0" err="1">
                <a:latin typeface="Courier New" pitchFamily="49" charset="0"/>
                <a:cs typeface="Courier New" pitchFamily="49" charset="0"/>
              </a:rPr>
              <a:t>changeColor</a:t>
            </a:r>
            <a:r>
              <a:rPr lang="en-US" altLang="zh-HK" sz="4300" dirty="0">
                <a:latin typeface="Courier New" pitchFamily="49" charset="0"/>
                <a:cs typeface="Courier New" pitchFamily="49" charset="0"/>
              </a:rPr>
              <a:t>(event) {</a:t>
            </a:r>
          </a:p>
          <a:p>
            <a:pPr marL="0" indent="0">
              <a:buNone/>
            </a:pPr>
            <a:r>
              <a:rPr lang="en-US" altLang="zh-HK" sz="43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HK" sz="4300" dirty="0" err="1">
                <a:latin typeface="Courier New" pitchFamily="49" charset="0"/>
                <a:cs typeface="Courier New" pitchFamily="49" charset="0"/>
              </a:rPr>
              <a:t>this.style.backgroundColor</a:t>
            </a:r>
            <a:r>
              <a:rPr lang="en-US" altLang="zh-HK" sz="4300" dirty="0">
                <a:latin typeface="Courier New" pitchFamily="49" charset="0"/>
                <a:cs typeface="Courier New" pitchFamily="49" charset="0"/>
              </a:rPr>
              <a:t>='orange';</a:t>
            </a:r>
          </a:p>
          <a:p>
            <a:pPr marL="0" indent="0">
              <a:buNone/>
            </a:pPr>
            <a:r>
              <a:rPr lang="en-US" altLang="zh-HK" sz="43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HK" sz="4300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altLang="zh-HK" sz="4300" dirty="0">
                <a:latin typeface="Courier New" pitchFamily="49" charset="0"/>
                <a:cs typeface="Courier New" pitchFamily="49" charset="0"/>
              </a:rPr>
              <a:t> target = </a:t>
            </a:r>
            <a:r>
              <a:rPr lang="en-US" altLang="zh-HK" sz="4300" dirty="0" err="1">
                <a:latin typeface="Courier New" pitchFamily="49" charset="0"/>
                <a:cs typeface="Courier New" pitchFamily="49" charset="0"/>
              </a:rPr>
              <a:t>event.target</a:t>
            </a:r>
            <a:r>
              <a:rPr lang="en-US" altLang="zh-HK" sz="4300" dirty="0">
                <a:latin typeface="Courier New" pitchFamily="49" charset="0"/>
                <a:cs typeface="Courier New" pitchFamily="49" charset="0"/>
              </a:rPr>
              <a:t> || </a:t>
            </a:r>
            <a:r>
              <a:rPr lang="en-US" altLang="zh-HK" sz="4300" dirty="0" err="1">
                <a:latin typeface="Courier New" pitchFamily="49" charset="0"/>
                <a:cs typeface="Courier New" pitchFamily="49" charset="0"/>
              </a:rPr>
              <a:t>event.srcElement</a:t>
            </a:r>
            <a:endParaRPr lang="en-US" altLang="zh-HK" sz="43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altLang="zh-HK" sz="4300" dirty="0">
                <a:latin typeface="Courier New" pitchFamily="49" charset="0"/>
                <a:cs typeface="Courier New" pitchFamily="49" charset="0"/>
              </a:rPr>
              <a:t>    alert("this = " + </a:t>
            </a:r>
            <a:r>
              <a:rPr lang="en-US" altLang="zh-HK" sz="4300" dirty="0" err="1">
                <a:latin typeface="Courier New" pitchFamily="49" charset="0"/>
                <a:cs typeface="Courier New" pitchFamily="49" charset="0"/>
              </a:rPr>
              <a:t>this.className</a:t>
            </a:r>
            <a:r>
              <a:rPr lang="en-US" altLang="zh-HK" sz="4300" dirty="0">
                <a:latin typeface="Courier New" pitchFamily="49" charset="0"/>
                <a:cs typeface="Courier New" pitchFamily="49" charset="0"/>
              </a:rPr>
              <a:t> + ", target = " + </a:t>
            </a:r>
            <a:r>
              <a:rPr lang="en-US" altLang="zh-HK" sz="4300" dirty="0" err="1">
                <a:latin typeface="Courier New" pitchFamily="49" charset="0"/>
                <a:cs typeface="Courier New" pitchFamily="49" charset="0"/>
              </a:rPr>
              <a:t>target.className</a:t>
            </a:r>
            <a:r>
              <a:rPr lang="en-US" altLang="zh-HK" sz="43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HK" sz="43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HK" sz="4300" dirty="0" err="1">
                <a:latin typeface="Courier New" pitchFamily="49" charset="0"/>
                <a:cs typeface="Courier New" pitchFamily="49" charset="0"/>
              </a:rPr>
              <a:t>this.style.backgroundColor</a:t>
            </a:r>
            <a:r>
              <a:rPr lang="en-US" altLang="zh-HK" sz="4300" dirty="0">
                <a:latin typeface="Courier New" pitchFamily="49" charset="0"/>
                <a:cs typeface="Courier New" pitchFamily="49" charset="0"/>
              </a:rPr>
              <a:t> = '';</a:t>
            </a:r>
          </a:p>
          <a:p>
            <a:pPr marL="0" indent="0">
              <a:buNone/>
            </a:pPr>
            <a:r>
              <a:rPr lang="en-US" altLang="zh-HK" sz="43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None/>
            </a:pPr>
            <a:r>
              <a:rPr lang="en-US" altLang="zh-HK" sz="4300" dirty="0">
                <a:latin typeface="Courier New" pitchFamily="49" charset="0"/>
                <a:cs typeface="Courier New" pitchFamily="49" charset="0"/>
              </a:rPr>
              <a:t>&lt;/script&gt;</a:t>
            </a:r>
            <a:endParaRPr lang="zh-HK" altLang="en-US" sz="43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67021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References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dirty="0" err="1"/>
              <a:t>Javascript</a:t>
            </a:r>
            <a:r>
              <a:rPr lang="en-US" altLang="zh-HK" dirty="0"/>
              <a:t> Tutorial -http://javascript.info/tutorial/bubbling-and-capturing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41445888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流線">
  <a:themeElements>
    <a:clrScheme name="流線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流線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流線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4570</TotalTime>
  <Words>1964</Words>
  <Application>Microsoft Office PowerPoint</Application>
  <PresentationFormat>On-screen Show (4:3)</PresentationFormat>
  <Paragraphs>268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微軟正黑體</vt:lpstr>
      <vt:lpstr>新細明體</vt:lpstr>
      <vt:lpstr>Calibri</vt:lpstr>
      <vt:lpstr>Constantia</vt:lpstr>
      <vt:lpstr>Courier New</vt:lpstr>
      <vt:lpstr>Wingdings 2</vt:lpstr>
      <vt:lpstr>流線</vt:lpstr>
      <vt:lpstr>Dynamic HTML</vt:lpstr>
      <vt:lpstr>Generating Dynamic Content</vt:lpstr>
      <vt:lpstr>Changing HTML Content</vt:lpstr>
      <vt:lpstr>Changing HTML Content (cont)</vt:lpstr>
      <vt:lpstr>Changing CSS</vt:lpstr>
      <vt:lpstr>HTML DOM Events</vt:lpstr>
      <vt:lpstr>HTML DOM Events (cont)</vt:lpstr>
      <vt:lpstr>HTML DOM Events (cont)</vt:lpstr>
      <vt:lpstr>HTML DOM Events (cont)</vt:lpstr>
      <vt:lpstr>Adding (HTML Elements)</vt:lpstr>
      <vt:lpstr>Removing (HTML Elements)</vt:lpstr>
      <vt:lpstr>HTML Event Model</vt:lpstr>
      <vt:lpstr>Capturing Phase</vt:lpstr>
      <vt:lpstr>Bubbling Phrase</vt:lpstr>
      <vt:lpstr>Handling Events in Bubbling Phrase</vt:lpstr>
      <vt:lpstr>Stop Event Propagation</vt:lpstr>
      <vt:lpstr>Stop Event Propagation (example)</vt:lpstr>
      <vt:lpstr>Originating Element (target) and Current Element (this)</vt:lpstr>
      <vt:lpstr>Originating Element (target) and Current Element (this) Example</vt:lpstr>
      <vt:lpstr>Handling Events in Capturing Phrase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HTML</dc:title>
  <dc:creator>Clarence</dc:creator>
  <cp:lastModifiedBy>Clarence Lau</cp:lastModifiedBy>
  <cp:revision>69</cp:revision>
  <dcterms:created xsi:type="dcterms:W3CDTF">2013-08-13T11:40:06Z</dcterms:created>
  <dcterms:modified xsi:type="dcterms:W3CDTF">2021-11-03T08:24:10Z</dcterms:modified>
</cp:coreProperties>
</file>